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8" r:id="rId5"/>
    <p:sldId id="262" r:id="rId6"/>
    <p:sldId id="260" r:id="rId7"/>
    <p:sldId id="269" r:id="rId8"/>
    <p:sldId id="270"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8FF"/>
    <a:srgbClr val="7B61FF"/>
    <a:srgbClr val="4D1C73"/>
    <a:srgbClr val="0A16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4CD964-6FBC-A056-7EE5-C1ABDE3CA343}" v="27" dt="2026-04-21T15:36:33.511"/>
    <p1510:client id="{7A1CA10D-3A45-254B-9DDC-483AAB9FC19E}" v="1696" dt="2026-04-21T20:59:19.857"/>
    <p1510:client id="{B7C31B59-3FFA-295B-BB53-E0ADFFD2957D}" v="1274" dt="2026-04-21T20:47:54.351"/>
    <p1510:client id="{C1272067-0527-3B51-1167-176296D44F4A}" v="67" dt="2026-04-21T14:11:31.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43" d="100"/>
          <a:sy n="143" d="100"/>
        </p:scale>
        <p:origin x="7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62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1F87-B437-8AED-D5E1-DEBD408A9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A400C-B3C9-5714-6725-2174A20E2F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EFF9DD-EAE6-8E51-FF69-5EE0529E08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A38F5B-A14A-9B75-C469-C923E3DE5FE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03744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6639-AC09-BCEB-78AD-9AEC50A1D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0999D-FD4A-C410-82D7-3EA996AB3F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C2A7CFC-14DC-2E18-E8D0-C00CD0DECB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356AF2-BDDB-B95F-F769-F0E8F463455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8173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13237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48640" y="-548640"/>
            <a:ext cx="2286000" cy="2286000"/>
          </a:xfrm>
          <a:prstGeom prst="ellipse">
            <a:avLst/>
          </a:prstGeom>
          <a:solidFill>
            <a:srgbClr val="00C8FF">
              <a:alpha val="12000"/>
            </a:srgbClr>
          </a:solidFill>
          <a:ln w="12700">
            <a:solidFill>
              <a:srgbClr val="00C8FF">
                <a:alpha val="25000"/>
              </a:srgbClr>
            </a:solidFill>
            <a:prstDash val="solid"/>
          </a:ln>
        </p:spPr>
        <p:txBody>
          <a:bodyPr/>
          <a:lstStyle/>
          <a:p>
            <a:endParaRPr lang="en-US"/>
          </a:p>
        </p:txBody>
      </p:sp>
      <p:sp>
        <p:nvSpPr>
          <p:cNvPr id="3" name="Shape 1"/>
          <p:cNvSpPr/>
          <p:nvPr/>
        </p:nvSpPr>
        <p:spPr>
          <a:xfrm>
            <a:off x="7680960" y="3657600"/>
            <a:ext cx="2011680" cy="2011680"/>
          </a:xfrm>
          <a:prstGeom prst="ellipse">
            <a:avLst/>
          </a:prstGeom>
          <a:solidFill>
            <a:srgbClr val="7B61FF">
              <a:alpha val="12000"/>
            </a:srgbClr>
          </a:solidFill>
          <a:ln w="12700">
            <a:solidFill>
              <a:srgbClr val="7B61FF">
                <a:alpha val="25000"/>
              </a:srgbClr>
            </a:solidFill>
            <a:prstDash val="solid"/>
          </a:ln>
        </p:spPr>
        <p:txBody>
          <a:bodyPr/>
          <a:lstStyle/>
          <a:p>
            <a:endParaRPr lang="en-US"/>
          </a:p>
        </p:txBody>
      </p:sp>
      <p:sp>
        <p:nvSpPr>
          <p:cNvPr id="4" name="Shape 2"/>
          <p:cNvSpPr/>
          <p:nvPr/>
        </p:nvSpPr>
        <p:spPr>
          <a:xfrm>
            <a:off x="7132320" y="-274320"/>
            <a:ext cx="1097280" cy="1097280"/>
          </a:xfrm>
          <a:prstGeom prst="ellipse">
            <a:avLst/>
          </a:prstGeom>
          <a:solidFill>
            <a:srgbClr val="00D48B">
              <a:alpha val="15000"/>
            </a:srgbClr>
          </a:solidFill>
          <a:ln w="12700">
            <a:solidFill>
              <a:srgbClr val="00D48B">
                <a:alpha val="20000"/>
              </a:srgbClr>
            </a:solidFill>
            <a:prstDash val="solid"/>
          </a:ln>
        </p:spPr>
        <p:txBody>
          <a:bodyPr/>
          <a:lstStyle/>
          <a:p>
            <a:endParaRPr lang="en-US"/>
          </a:p>
        </p:txBody>
      </p:sp>
      <p:sp>
        <p:nvSpPr>
          <p:cNvPr id="5" name="Shape 3"/>
          <p:cNvSpPr/>
          <p:nvPr/>
        </p:nvSpPr>
        <p:spPr>
          <a:xfrm>
            <a:off x="502920" y="1572768"/>
            <a:ext cx="1280160" cy="36576"/>
          </a:xfrm>
          <a:prstGeom prst="rect">
            <a:avLst/>
          </a:prstGeom>
          <a:solidFill>
            <a:srgbClr val="00C8FF"/>
          </a:solidFill>
          <a:ln w="12700">
            <a:solidFill>
              <a:srgbClr val="00C8FF"/>
            </a:solidFill>
            <a:prstDash val="solid"/>
          </a:ln>
        </p:spPr>
        <p:txBody>
          <a:bodyPr/>
          <a:lstStyle/>
          <a:p>
            <a:endParaRPr lang="en-US"/>
          </a:p>
        </p:txBody>
      </p:sp>
      <p:sp>
        <p:nvSpPr>
          <p:cNvPr id="6" name="Text 4"/>
          <p:cNvSpPr/>
          <p:nvPr/>
        </p:nvSpPr>
        <p:spPr>
          <a:xfrm>
            <a:off x="457200" y="1280160"/>
            <a:ext cx="8229600" cy="256032"/>
          </a:xfrm>
          <a:prstGeom prst="rect">
            <a:avLst/>
          </a:prstGeom>
          <a:noFill/>
          <a:ln/>
        </p:spPr>
        <p:txBody>
          <a:bodyPr wrap="square" lIns="0" tIns="0" rIns="0" bIns="0" rtlCol="0" anchor="ctr"/>
          <a:lstStyle/>
          <a:p>
            <a:pPr marL="0" indent="0" algn="l">
              <a:buNone/>
            </a:pPr>
            <a:r>
              <a:rPr lang="en-US" sz="850" b="1" kern="0" spc="300">
                <a:solidFill>
                  <a:srgbClr val="00C8FF"/>
                </a:solidFill>
              </a:rPr>
              <a:t>SYSTEMS SECURITY  ·  SIDE-CHANNEL ATTACKS  ·  INTEL SGX</a:t>
            </a:r>
            <a:endParaRPr lang="en-US" sz="850"/>
          </a:p>
        </p:txBody>
      </p:sp>
      <p:sp>
        <p:nvSpPr>
          <p:cNvPr id="7" name="Text 5"/>
          <p:cNvSpPr/>
          <p:nvPr/>
        </p:nvSpPr>
        <p:spPr>
          <a:xfrm>
            <a:off x="457200" y="1691640"/>
            <a:ext cx="8229600" cy="1005840"/>
          </a:xfrm>
          <a:prstGeom prst="rect">
            <a:avLst/>
          </a:prstGeom>
          <a:noFill/>
          <a:ln/>
        </p:spPr>
        <p:txBody>
          <a:bodyPr wrap="square" lIns="0" tIns="0" rIns="0" bIns="0" rtlCol="0" anchor="ctr"/>
          <a:lstStyle/>
          <a:p>
            <a:pPr marL="0" indent="0" algn="l">
              <a:buNone/>
            </a:pPr>
            <a:r>
              <a:rPr lang="en-US" sz="3800" b="1">
                <a:solidFill>
                  <a:srgbClr val="FFFFFF"/>
                </a:solidFill>
                <a:latin typeface="Calibri" pitchFamily="34" charset="0"/>
                <a:ea typeface="Calibri" pitchFamily="34" charset="-122"/>
                <a:cs typeface="Calibri" pitchFamily="34" charset="-120"/>
              </a:rPr>
              <a:t>SGX Enclave Key Recovery</a:t>
            </a:r>
            <a:endParaRPr lang="en-US" sz="3800"/>
          </a:p>
        </p:txBody>
      </p:sp>
      <p:sp>
        <p:nvSpPr>
          <p:cNvPr id="8" name="Text 6"/>
          <p:cNvSpPr/>
          <p:nvPr/>
        </p:nvSpPr>
        <p:spPr>
          <a:xfrm>
            <a:off x="457200" y="2606040"/>
            <a:ext cx="8229600" cy="640080"/>
          </a:xfrm>
          <a:prstGeom prst="rect">
            <a:avLst/>
          </a:prstGeom>
          <a:noFill/>
          <a:ln/>
        </p:spPr>
        <p:txBody>
          <a:bodyPr wrap="square" lIns="0" tIns="0" rIns="0" bIns="0" rtlCol="0" anchor="ctr"/>
          <a:lstStyle/>
          <a:p>
            <a:pPr marL="0" indent="0" algn="l">
              <a:buNone/>
            </a:pPr>
            <a:r>
              <a:rPr lang="en-US" sz="2200">
                <a:solidFill>
                  <a:srgbClr val="A8C0E8"/>
                </a:solidFill>
                <a:latin typeface="Calibri" pitchFamily="34" charset="0"/>
                <a:ea typeface="Calibri" pitchFamily="34" charset="-122"/>
                <a:cs typeface="Calibri" pitchFamily="34" charset="-120"/>
              </a:rPr>
              <a:t>via Single-Stepping &amp; PTE Access-Bit Monitoring</a:t>
            </a:r>
            <a:endParaRPr lang="en-US" sz="2200"/>
          </a:p>
        </p:txBody>
      </p:sp>
      <p:sp>
        <p:nvSpPr>
          <p:cNvPr id="9" name="Shape 7"/>
          <p:cNvSpPr/>
          <p:nvPr/>
        </p:nvSpPr>
        <p:spPr>
          <a:xfrm>
            <a:off x="457200" y="3337560"/>
            <a:ext cx="8229600" cy="16459"/>
          </a:xfrm>
          <a:prstGeom prst="rect">
            <a:avLst/>
          </a:prstGeom>
          <a:solidFill>
            <a:srgbClr val="1E3A5F"/>
          </a:solidFill>
          <a:ln w="12700">
            <a:solidFill>
              <a:srgbClr val="1E3A5F"/>
            </a:solidFill>
            <a:prstDash val="solid"/>
          </a:ln>
        </p:spPr>
        <p:txBody>
          <a:bodyPr/>
          <a:lstStyle/>
          <a:p>
            <a:endParaRPr lang="en-US"/>
          </a:p>
        </p:txBody>
      </p:sp>
      <p:sp>
        <p:nvSpPr>
          <p:cNvPr id="10" name="Text 8"/>
          <p:cNvSpPr/>
          <p:nvPr/>
        </p:nvSpPr>
        <p:spPr>
          <a:xfrm>
            <a:off x="457200" y="3493008"/>
            <a:ext cx="2011680" cy="201168"/>
          </a:xfrm>
          <a:prstGeom prst="rect">
            <a:avLst/>
          </a:prstGeom>
          <a:noFill/>
          <a:ln/>
        </p:spPr>
        <p:txBody>
          <a:bodyPr wrap="square" lIns="0" tIns="0" rIns="0" bIns="0" rtlCol="0" anchor="ctr"/>
          <a:lstStyle/>
          <a:p>
            <a:pPr marL="0" indent="0" algn="l">
              <a:buNone/>
            </a:pPr>
            <a:r>
              <a:rPr lang="en-US" sz="750" b="1" kern="0" spc="200">
                <a:solidFill>
                  <a:srgbClr val="00C8FF"/>
                </a:solidFill>
              </a:rPr>
              <a:t>FRAMEWORK</a:t>
            </a:r>
            <a:endParaRPr lang="en-US" sz="750"/>
          </a:p>
        </p:txBody>
      </p:sp>
      <p:sp>
        <p:nvSpPr>
          <p:cNvPr id="11" name="Text 9"/>
          <p:cNvSpPr/>
          <p:nvPr/>
        </p:nvSpPr>
        <p:spPr>
          <a:xfrm>
            <a:off x="457200" y="3675888"/>
            <a:ext cx="2011680" cy="274320"/>
          </a:xfrm>
          <a:prstGeom prst="rect">
            <a:avLst/>
          </a:prstGeom>
          <a:noFill/>
          <a:ln/>
        </p:spPr>
        <p:txBody>
          <a:bodyPr wrap="square" lIns="0" tIns="0" rIns="0" bIns="0" rtlCol="0" anchor="ctr"/>
          <a:lstStyle/>
          <a:p>
            <a:pPr marL="0" indent="0" algn="l">
              <a:buNone/>
            </a:pPr>
            <a:r>
              <a:rPr lang="en-US" sz="1300" b="1">
                <a:solidFill>
                  <a:srgbClr val="FFFFFF"/>
                </a:solidFill>
              </a:rPr>
              <a:t>SGX-Step</a:t>
            </a:r>
            <a:endParaRPr lang="en-US" sz="1300"/>
          </a:p>
        </p:txBody>
      </p:sp>
      <p:sp>
        <p:nvSpPr>
          <p:cNvPr id="12" name="Text 10"/>
          <p:cNvSpPr/>
          <p:nvPr/>
        </p:nvSpPr>
        <p:spPr>
          <a:xfrm>
            <a:off x="2606040" y="3493008"/>
            <a:ext cx="2011680" cy="201168"/>
          </a:xfrm>
          <a:prstGeom prst="rect">
            <a:avLst/>
          </a:prstGeom>
          <a:noFill/>
          <a:ln/>
        </p:spPr>
        <p:txBody>
          <a:bodyPr wrap="square" lIns="0" tIns="0" rIns="0" bIns="0" rtlCol="0" anchor="ctr"/>
          <a:lstStyle/>
          <a:p>
            <a:pPr marL="0" indent="0" algn="l">
              <a:buNone/>
            </a:pPr>
            <a:r>
              <a:rPr lang="en-US" sz="750" b="1" kern="0" spc="200">
                <a:solidFill>
                  <a:srgbClr val="00C8FF"/>
                </a:solidFill>
              </a:rPr>
              <a:t>TARGET</a:t>
            </a:r>
            <a:endParaRPr lang="en-US" sz="750"/>
          </a:p>
        </p:txBody>
      </p:sp>
      <p:sp>
        <p:nvSpPr>
          <p:cNvPr id="13" name="Text 11"/>
          <p:cNvSpPr/>
          <p:nvPr/>
        </p:nvSpPr>
        <p:spPr>
          <a:xfrm>
            <a:off x="2606040" y="3675888"/>
            <a:ext cx="2011680" cy="274320"/>
          </a:xfrm>
          <a:prstGeom prst="rect">
            <a:avLst/>
          </a:prstGeom>
          <a:noFill/>
          <a:ln/>
        </p:spPr>
        <p:txBody>
          <a:bodyPr wrap="square" lIns="0" tIns="0" rIns="0" bIns="0" rtlCol="0" anchor="ctr"/>
          <a:lstStyle/>
          <a:p>
            <a:pPr marL="0" indent="0" algn="l">
              <a:buNone/>
            </a:pPr>
            <a:r>
              <a:rPr lang="en-US" sz="1300" b="1">
                <a:solidFill>
                  <a:srgbClr val="FFFFFF"/>
                </a:solidFill>
              </a:rPr>
              <a:t>Production Enclave</a:t>
            </a:r>
            <a:endParaRPr lang="en-US" sz="1300"/>
          </a:p>
        </p:txBody>
      </p:sp>
      <p:sp>
        <p:nvSpPr>
          <p:cNvPr id="14" name="Text 12"/>
          <p:cNvSpPr/>
          <p:nvPr/>
        </p:nvSpPr>
        <p:spPr>
          <a:xfrm>
            <a:off x="4754880" y="3493008"/>
            <a:ext cx="2011680" cy="201168"/>
          </a:xfrm>
          <a:prstGeom prst="rect">
            <a:avLst/>
          </a:prstGeom>
          <a:noFill/>
          <a:ln/>
        </p:spPr>
        <p:txBody>
          <a:bodyPr wrap="square" lIns="0" tIns="0" rIns="0" bIns="0" rtlCol="0" anchor="ctr"/>
          <a:lstStyle/>
          <a:p>
            <a:pPr marL="0" indent="0" algn="l">
              <a:buNone/>
            </a:pPr>
            <a:r>
              <a:rPr lang="en-US" sz="750" b="1" kern="0" spc="200">
                <a:solidFill>
                  <a:srgbClr val="00C8FF"/>
                </a:solidFill>
              </a:rPr>
              <a:t>PRIMITIVES</a:t>
            </a:r>
            <a:endParaRPr lang="en-US" sz="750"/>
          </a:p>
        </p:txBody>
      </p:sp>
      <p:sp>
        <p:nvSpPr>
          <p:cNvPr id="15" name="Text 13"/>
          <p:cNvSpPr/>
          <p:nvPr/>
        </p:nvSpPr>
        <p:spPr>
          <a:xfrm>
            <a:off x="4754880" y="3675888"/>
            <a:ext cx="2011680" cy="274320"/>
          </a:xfrm>
          <a:prstGeom prst="rect">
            <a:avLst/>
          </a:prstGeom>
          <a:noFill/>
          <a:ln/>
        </p:spPr>
        <p:txBody>
          <a:bodyPr wrap="square" lIns="0" tIns="0" rIns="0" bIns="0" rtlCol="0" anchor="ctr"/>
          <a:lstStyle/>
          <a:p>
            <a:pPr marL="0" indent="0" algn="l">
              <a:buNone/>
            </a:pPr>
            <a:r>
              <a:rPr lang="en-US" sz="1300" b="1">
                <a:solidFill>
                  <a:srgbClr val="FFFFFF"/>
                </a:solidFill>
              </a:rPr>
              <a:t>APIC Timer + PTE A-Bit</a:t>
            </a:r>
            <a:endParaRPr lang="en-US" sz="1300"/>
          </a:p>
        </p:txBody>
      </p:sp>
      <p:sp>
        <p:nvSpPr>
          <p:cNvPr id="16" name="Text 14"/>
          <p:cNvSpPr/>
          <p:nvPr/>
        </p:nvSpPr>
        <p:spPr>
          <a:xfrm>
            <a:off x="6903720" y="3493008"/>
            <a:ext cx="2011680" cy="201168"/>
          </a:xfrm>
          <a:prstGeom prst="rect">
            <a:avLst/>
          </a:prstGeom>
          <a:noFill/>
          <a:ln/>
        </p:spPr>
        <p:txBody>
          <a:bodyPr wrap="square" lIns="0" tIns="0" rIns="0" bIns="0" rtlCol="0" anchor="ctr"/>
          <a:lstStyle/>
          <a:p>
            <a:pPr marL="0" indent="0" algn="l">
              <a:buNone/>
            </a:pPr>
            <a:r>
              <a:rPr lang="en-US" sz="750" b="1" kern="0" spc="200">
                <a:solidFill>
                  <a:srgbClr val="00C8FF"/>
                </a:solidFill>
              </a:rPr>
              <a:t>KEY LENGTH</a:t>
            </a:r>
            <a:endParaRPr lang="en-US" sz="750"/>
          </a:p>
        </p:txBody>
      </p:sp>
      <p:sp>
        <p:nvSpPr>
          <p:cNvPr id="17" name="Text 15"/>
          <p:cNvSpPr/>
          <p:nvPr/>
        </p:nvSpPr>
        <p:spPr>
          <a:xfrm>
            <a:off x="6903720" y="3675888"/>
            <a:ext cx="2011680" cy="274320"/>
          </a:xfrm>
          <a:prstGeom prst="rect">
            <a:avLst/>
          </a:prstGeom>
          <a:noFill/>
          <a:ln/>
        </p:spPr>
        <p:txBody>
          <a:bodyPr wrap="square" lIns="0" tIns="0" rIns="0" bIns="0" rtlCol="0" anchor="ctr"/>
          <a:lstStyle/>
          <a:p>
            <a:pPr marL="0" indent="0" algn="l">
              <a:buNone/>
            </a:pPr>
            <a:r>
              <a:rPr lang="en-US" sz="1300" b="1">
                <a:solidFill>
                  <a:srgbClr val="FFFFFF"/>
                </a:solidFill>
              </a:rPr>
              <a:t>128 bits</a:t>
            </a:r>
            <a:endParaRPr lang="en-US" sz="1300"/>
          </a:p>
        </p:txBody>
      </p:sp>
      <p:sp>
        <p:nvSpPr>
          <p:cNvPr id="18" name="Text 16"/>
          <p:cNvSpPr/>
          <p:nvPr/>
        </p:nvSpPr>
        <p:spPr>
          <a:xfrm>
            <a:off x="5943600" y="4255616"/>
            <a:ext cx="2377440" cy="468173"/>
          </a:xfrm>
          <a:prstGeom prst="rect">
            <a:avLst/>
          </a:prstGeom>
          <a:noFill/>
          <a:ln/>
        </p:spPr>
        <p:txBody>
          <a:bodyPr wrap="square" lIns="0" tIns="0" rIns="0" bIns="0" rtlCol="0" anchor="ctr"/>
          <a:lstStyle/>
          <a:p>
            <a:r>
              <a:rPr lang="en-US" sz="1400">
                <a:solidFill>
                  <a:srgbClr val="A8C0E8"/>
                </a:solidFill>
                <a:ea typeface="Calibri"/>
                <a:cs typeface="Calibri"/>
              </a:rPr>
              <a:t> Satwik Raj Wadhwa (230937)</a:t>
            </a:r>
            <a:endParaRPr lang="en-US" sz="1400">
              <a:solidFill>
                <a:srgbClr val="000000"/>
              </a:solidFill>
              <a:ea typeface="Calibri"/>
              <a:cs typeface="Calibri"/>
            </a:endParaRPr>
          </a:p>
          <a:p>
            <a:r>
              <a:rPr lang="en-US" sz="1400">
                <a:solidFill>
                  <a:srgbClr val="A8C0E8"/>
                </a:solidFill>
                <a:ea typeface="Calibri"/>
                <a:cs typeface="Calibri"/>
              </a:rPr>
              <a:t> Divyansh Bansal       (230381)</a:t>
            </a:r>
            <a:endParaRPr lang="en-US" sz="1400">
              <a:solidFill>
                <a:srgbClr val="000000"/>
              </a:solidFill>
              <a:ea typeface="Calibri"/>
              <a:cs typeface="Calibri"/>
            </a:endParaRPr>
          </a:p>
        </p:txBody>
      </p:sp>
      <p:sp>
        <p:nvSpPr>
          <p:cNvPr id="21" name="Text 16">
            <a:extLst>
              <a:ext uri="{FF2B5EF4-FFF2-40B4-BE49-F238E27FC236}">
                <a16:creationId xmlns:a16="http://schemas.microsoft.com/office/drawing/2014/main" id="{44C4575A-CB68-96AF-ECFD-45B375A38A34}"/>
              </a:ext>
            </a:extLst>
          </p:cNvPr>
          <p:cNvSpPr/>
          <p:nvPr/>
        </p:nvSpPr>
        <p:spPr>
          <a:xfrm>
            <a:off x="457200" y="4255616"/>
            <a:ext cx="3017519" cy="468173"/>
          </a:xfrm>
          <a:prstGeom prst="rect">
            <a:avLst/>
          </a:prstGeom>
          <a:noFill/>
          <a:ln/>
        </p:spPr>
        <p:txBody>
          <a:bodyPr wrap="square" lIns="0" tIns="0" rIns="0" bIns="0" rtlCol="0" anchor="ctr"/>
          <a:lstStyle/>
          <a:p>
            <a:r>
              <a:rPr lang="en-US" sz="1400">
                <a:solidFill>
                  <a:srgbClr val="A8C0E8"/>
                </a:solidFill>
                <a:ea typeface="Calibri"/>
                <a:cs typeface="Calibri"/>
              </a:rPr>
              <a:t> Professor In-Charge :  Urbi Chatterjee</a:t>
            </a:r>
            <a:endParaRPr lang="en-US" sz="1400">
              <a:solidFill>
                <a:srgbClr val="000000"/>
              </a:solidFill>
              <a:ea typeface="Calibri"/>
              <a:cs typeface="Calibri"/>
            </a:endParaRPr>
          </a:p>
          <a:p>
            <a:r>
              <a:rPr lang="en-US" sz="1400">
                <a:solidFill>
                  <a:srgbClr val="A8C0E8"/>
                </a:solidFill>
                <a:ea typeface="Calibri"/>
                <a:cs typeface="Calibri"/>
              </a:rPr>
              <a:t> Supervisor                 :  Dipesh</a:t>
            </a:r>
            <a:endParaRPr lang="en-US" sz="1400">
              <a:solidFill>
                <a:srgbClr val="000000"/>
              </a:solidFill>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r>
              <a:rPr lang="en-US" sz="3000" b="1">
                <a:solidFill>
                  <a:srgbClr val="0A1628"/>
                </a:solidFill>
              </a:rPr>
              <a:t>Intel SGX - Background</a:t>
            </a:r>
            <a:endParaRPr lang="en-US" sz="3000"/>
          </a:p>
        </p:txBody>
      </p:sp>
      <p:sp>
        <p:nvSpPr>
          <p:cNvPr id="3" name="Shape 1"/>
          <p:cNvSpPr/>
          <p:nvPr/>
        </p:nvSpPr>
        <p:spPr>
          <a:xfrm>
            <a:off x="457200" y="749808"/>
            <a:ext cx="8229600" cy="27432"/>
          </a:xfrm>
          <a:prstGeom prst="rect">
            <a:avLst/>
          </a:prstGeom>
          <a:solidFill>
            <a:srgbClr val="00C8FF"/>
          </a:solidFill>
          <a:ln w="12700">
            <a:solidFill>
              <a:srgbClr val="00C8FF"/>
            </a:solidFill>
            <a:prstDash val="solid"/>
          </a:ln>
        </p:spPr>
        <p:txBody>
          <a:bodyPr/>
          <a:lstStyle/>
          <a:p>
            <a:endParaRPr lang="en-US"/>
          </a:p>
        </p:txBody>
      </p:sp>
      <p:sp>
        <p:nvSpPr>
          <p:cNvPr id="4" name="Shape 2"/>
          <p:cNvSpPr/>
          <p:nvPr/>
        </p:nvSpPr>
        <p:spPr>
          <a:xfrm>
            <a:off x="320040" y="960120"/>
            <a:ext cx="2743200" cy="329184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320040" y="960120"/>
            <a:ext cx="2743200" cy="64008"/>
          </a:xfrm>
          <a:prstGeom prst="rect">
            <a:avLst/>
          </a:prstGeom>
          <a:solidFill>
            <a:srgbClr val="00C8FF"/>
          </a:solidFill>
          <a:ln w="12700">
            <a:solidFill>
              <a:srgbClr val="00C8FF"/>
            </a:solidFill>
            <a:prstDash val="solid"/>
          </a:ln>
        </p:spPr>
        <p:txBody>
          <a:bodyPr/>
          <a:lstStyle/>
          <a:p>
            <a:endParaRPr lang="en-US"/>
          </a:p>
        </p:txBody>
      </p:sp>
      <p:sp>
        <p:nvSpPr>
          <p:cNvPr id="6" name="Text 4"/>
          <p:cNvSpPr/>
          <p:nvPr/>
        </p:nvSpPr>
        <p:spPr>
          <a:xfrm>
            <a:off x="320040" y="1078992"/>
            <a:ext cx="2743200" cy="594360"/>
          </a:xfrm>
          <a:prstGeom prst="rect">
            <a:avLst/>
          </a:prstGeom>
          <a:noFill/>
          <a:ln/>
        </p:spPr>
        <p:txBody>
          <a:bodyPr wrap="square" lIns="0" tIns="0" rIns="0" bIns="0" rtlCol="0" anchor="ctr"/>
          <a:lstStyle/>
          <a:p>
            <a:pPr marL="0" indent="0" algn="ctr">
              <a:buNone/>
            </a:pPr>
            <a:r>
              <a:rPr lang="en-US" sz="3000">
                <a:solidFill>
                  <a:srgbClr val="000000"/>
                </a:solidFill>
              </a:rPr>
              <a:t>🔒</a:t>
            </a:r>
            <a:endParaRPr lang="en-US" sz="3000"/>
          </a:p>
        </p:txBody>
      </p:sp>
      <p:sp>
        <p:nvSpPr>
          <p:cNvPr id="7" name="Text 5"/>
          <p:cNvSpPr/>
          <p:nvPr/>
        </p:nvSpPr>
        <p:spPr>
          <a:xfrm>
            <a:off x="457200" y="1737360"/>
            <a:ext cx="2468880" cy="548640"/>
          </a:xfrm>
          <a:prstGeom prst="rect">
            <a:avLst/>
          </a:prstGeom>
          <a:noFill/>
          <a:ln/>
        </p:spPr>
        <p:txBody>
          <a:bodyPr wrap="square" lIns="0" tIns="0" rIns="0" bIns="0" rtlCol="0" anchor="ctr"/>
          <a:lstStyle/>
          <a:p>
            <a:pPr algn="ctr"/>
            <a:r>
              <a:rPr lang="en-US">
                <a:solidFill>
                  <a:srgbClr val="0A1628"/>
                </a:solidFill>
                <a:ea typeface="+mn-lt"/>
                <a:cs typeface="+mn-lt"/>
              </a:rPr>
              <a:t>SGX Provides Secure Enclaves</a:t>
            </a:r>
            <a:endParaRPr lang="en-US"/>
          </a:p>
        </p:txBody>
      </p:sp>
      <p:sp>
        <p:nvSpPr>
          <p:cNvPr id="8" name="Text 6"/>
          <p:cNvSpPr/>
          <p:nvPr/>
        </p:nvSpPr>
        <p:spPr>
          <a:xfrm>
            <a:off x="457200" y="2340864"/>
            <a:ext cx="2468880" cy="1828800"/>
          </a:xfrm>
          <a:prstGeom prst="rect">
            <a:avLst/>
          </a:prstGeom>
          <a:noFill/>
          <a:ln/>
        </p:spPr>
        <p:txBody>
          <a:bodyPr wrap="square" lIns="0" tIns="0" rIns="0" bIns="0" rtlCol="0" anchor="t"/>
          <a:lstStyle/>
          <a:p>
            <a:r>
              <a:rPr lang="en-US" sz="1300">
                <a:solidFill>
                  <a:srgbClr val="4A6080"/>
                </a:solidFill>
                <a:ea typeface="+mn-lt"/>
                <a:cs typeface="+mn-lt"/>
              </a:rPr>
              <a:t>Intel SGX creates isolated memory regions called enclaves where sensitive code and data can execute securely. Even privileged software like the OS cannot directly access enclave memory, ensuring strong confidentiality and integrity.</a:t>
            </a:r>
            <a:endParaRPr lang="en-US">
              <a:ea typeface="+mn-lt"/>
              <a:cs typeface="+mn-lt"/>
            </a:endParaRPr>
          </a:p>
        </p:txBody>
      </p:sp>
      <p:sp>
        <p:nvSpPr>
          <p:cNvPr id="9" name="Shape 7"/>
          <p:cNvSpPr/>
          <p:nvPr/>
        </p:nvSpPr>
        <p:spPr>
          <a:xfrm>
            <a:off x="3200400" y="960120"/>
            <a:ext cx="2743200" cy="329184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3200400" y="960120"/>
            <a:ext cx="2743200" cy="64008"/>
          </a:xfrm>
          <a:prstGeom prst="rect">
            <a:avLst/>
          </a:prstGeom>
          <a:solidFill>
            <a:srgbClr val="00C8FF"/>
          </a:solidFill>
          <a:ln w="12700">
            <a:solidFill>
              <a:srgbClr val="00C8FF"/>
            </a:solidFill>
            <a:prstDash val="solid"/>
          </a:ln>
        </p:spPr>
        <p:txBody>
          <a:bodyPr/>
          <a:lstStyle/>
          <a:p>
            <a:endParaRPr lang="en-US"/>
          </a:p>
        </p:txBody>
      </p:sp>
      <p:sp>
        <p:nvSpPr>
          <p:cNvPr id="11" name="Text 9"/>
          <p:cNvSpPr/>
          <p:nvPr/>
        </p:nvSpPr>
        <p:spPr>
          <a:xfrm>
            <a:off x="3200400" y="1078992"/>
            <a:ext cx="2743200" cy="594360"/>
          </a:xfrm>
          <a:prstGeom prst="rect">
            <a:avLst/>
          </a:prstGeom>
          <a:noFill/>
          <a:ln/>
        </p:spPr>
        <p:txBody>
          <a:bodyPr wrap="square" lIns="0" tIns="0" rIns="0" bIns="0" rtlCol="0" anchor="ctr"/>
          <a:lstStyle/>
          <a:p>
            <a:pPr marL="0" indent="0" algn="ctr">
              <a:buNone/>
            </a:pPr>
            <a:r>
              <a:rPr lang="en-US" sz="3000">
                <a:solidFill>
                  <a:srgbClr val="000000"/>
                </a:solidFill>
              </a:rPr>
              <a:t>⚠️</a:t>
            </a:r>
            <a:endParaRPr lang="en-US" sz="3000"/>
          </a:p>
        </p:txBody>
      </p:sp>
      <p:sp>
        <p:nvSpPr>
          <p:cNvPr id="12" name="Text 10"/>
          <p:cNvSpPr/>
          <p:nvPr/>
        </p:nvSpPr>
        <p:spPr>
          <a:xfrm>
            <a:off x="3337560" y="1737360"/>
            <a:ext cx="2468880" cy="548640"/>
          </a:xfrm>
          <a:prstGeom prst="rect">
            <a:avLst/>
          </a:prstGeom>
          <a:noFill/>
          <a:ln/>
        </p:spPr>
        <p:txBody>
          <a:bodyPr wrap="square" lIns="0" tIns="0" rIns="0" bIns="0" rtlCol="0" anchor="ctr"/>
          <a:lstStyle/>
          <a:p>
            <a:pPr algn="ctr"/>
            <a:r>
              <a:rPr lang="en-US">
                <a:solidFill>
                  <a:srgbClr val="0A1628"/>
                </a:solidFill>
                <a:ea typeface="+mn-lt"/>
                <a:cs typeface="+mn-lt"/>
              </a:rPr>
              <a:t>Trusted Execution in an Untrusted System</a:t>
            </a:r>
            <a:endParaRPr lang="en-US"/>
          </a:p>
        </p:txBody>
      </p:sp>
      <p:sp>
        <p:nvSpPr>
          <p:cNvPr id="13" name="Text 11"/>
          <p:cNvSpPr/>
          <p:nvPr/>
        </p:nvSpPr>
        <p:spPr>
          <a:xfrm>
            <a:off x="3337560" y="2340864"/>
            <a:ext cx="2468880" cy="1828800"/>
          </a:xfrm>
          <a:prstGeom prst="rect">
            <a:avLst/>
          </a:prstGeom>
          <a:noFill/>
          <a:ln/>
        </p:spPr>
        <p:txBody>
          <a:bodyPr wrap="square" lIns="0" tIns="0" rIns="0" bIns="0" rtlCol="0" anchor="t"/>
          <a:lstStyle/>
          <a:p>
            <a:r>
              <a:rPr lang="en-US" sz="1300">
                <a:solidFill>
                  <a:srgbClr val="4A6080"/>
                </a:solidFill>
                <a:ea typeface="+mn-lt"/>
                <a:cs typeface="+mn-lt"/>
              </a:rPr>
              <a:t>Although enclaves are protected, they still rely on the OS for scheduling, memory management, and interrupts. This dependency introduces subtle attack surfaces such as side channels, since the OS controls key system resources.</a:t>
            </a:r>
            <a:endParaRPr lang="en-US">
              <a:ea typeface="+mn-lt"/>
              <a:cs typeface="+mn-lt"/>
            </a:endParaRPr>
          </a:p>
        </p:txBody>
      </p:sp>
      <p:sp>
        <p:nvSpPr>
          <p:cNvPr id="14" name="Shape 12"/>
          <p:cNvSpPr/>
          <p:nvPr/>
        </p:nvSpPr>
        <p:spPr>
          <a:xfrm>
            <a:off x="6072477" y="960120"/>
            <a:ext cx="2743200" cy="3291840"/>
          </a:xfrm>
          <a:prstGeom prst="rect">
            <a:avLst/>
          </a:prstGeom>
          <a:solidFill>
            <a:srgbClr val="FFFFFF"/>
          </a:solidFill>
          <a:ln w="12700">
            <a:solidFill>
              <a:srgbClr val="D0DCF0"/>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6080760" y="960120"/>
            <a:ext cx="2743200" cy="64008"/>
          </a:xfrm>
          <a:prstGeom prst="rect">
            <a:avLst/>
          </a:prstGeom>
          <a:solidFill>
            <a:srgbClr val="00D48B"/>
          </a:solidFill>
          <a:ln w="12700">
            <a:solidFill>
              <a:srgbClr val="00D48B"/>
            </a:solidFill>
            <a:prstDash val="solid"/>
          </a:ln>
        </p:spPr>
        <p:txBody>
          <a:bodyPr/>
          <a:lstStyle/>
          <a:p>
            <a:endParaRPr lang="en-US"/>
          </a:p>
        </p:txBody>
      </p:sp>
      <p:sp>
        <p:nvSpPr>
          <p:cNvPr id="16" name="Text 14"/>
          <p:cNvSpPr/>
          <p:nvPr/>
        </p:nvSpPr>
        <p:spPr>
          <a:xfrm>
            <a:off x="6080760" y="1078992"/>
            <a:ext cx="2743200" cy="594360"/>
          </a:xfrm>
          <a:prstGeom prst="rect">
            <a:avLst/>
          </a:prstGeom>
          <a:noFill/>
          <a:ln/>
        </p:spPr>
        <p:txBody>
          <a:bodyPr wrap="square" lIns="0" tIns="0" rIns="0" bIns="0" rtlCol="0" anchor="ctr"/>
          <a:lstStyle/>
          <a:p>
            <a:pPr marL="0" indent="0" algn="ctr">
              <a:buNone/>
            </a:pPr>
            <a:r>
              <a:rPr lang="en-US" sz="3000">
                <a:solidFill>
                  <a:srgbClr val="000000"/>
                </a:solidFill>
              </a:rPr>
              <a:t>🎯</a:t>
            </a:r>
            <a:endParaRPr lang="en-US" sz="3000"/>
          </a:p>
        </p:txBody>
      </p:sp>
      <p:sp>
        <p:nvSpPr>
          <p:cNvPr id="17" name="Text 15"/>
          <p:cNvSpPr>
            <a:spLocks/>
          </p:cNvSpPr>
          <p:nvPr/>
        </p:nvSpPr>
        <p:spPr>
          <a:xfrm>
            <a:off x="6217920" y="1737360"/>
            <a:ext cx="2468880" cy="548640"/>
          </a:xfrm>
          <a:prstGeom prst="rect">
            <a:avLst/>
          </a:prstGeom>
          <a:noFill/>
          <a:ln/>
        </p:spPr>
        <p:txBody>
          <a:bodyPr wrap="square" lIns="0" tIns="0" rIns="0" bIns="0" rtlCol="0" anchor="ctr"/>
          <a:lstStyle/>
          <a:p>
            <a:pPr algn="ctr"/>
            <a:r>
              <a:rPr lang="en-IN"/>
              <a:t>Controlled Enclave Transitions (ECALL/OCALL)</a:t>
            </a:r>
            <a:endParaRPr lang="en-US"/>
          </a:p>
        </p:txBody>
      </p:sp>
      <p:sp>
        <p:nvSpPr>
          <p:cNvPr id="18" name="Text 16"/>
          <p:cNvSpPr/>
          <p:nvPr/>
        </p:nvSpPr>
        <p:spPr>
          <a:xfrm>
            <a:off x="6217920" y="2340864"/>
            <a:ext cx="2468880" cy="1828800"/>
          </a:xfrm>
          <a:prstGeom prst="rect">
            <a:avLst/>
          </a:prstGeom>
          <a:noFill/>
          <a:ln/>
        </p:spPr>
        <p:txBody>
          <a:bodyPr wrap="square" lIns="0" tIns="0" rIns="0" bIns="0" rtlCol="0" anchor="t"/>
          <a:lstStyle/>
          <a:p>
            <a:r>
              <a:rPr lang="en-US" sz="1300">
                <a:solidFill>
                  <a:srgbClr val="4A6080"/>
                </a:solidFill>
                <a:ea typeface="+mn-lt"/>
                <a:cs typeface="+mn-lt"/>
              </a:rPr>
              <a:t>SGX enforces strict entry and exit points for enclave execution using ECALLs (calls into the enclave) and OCALLs (calls out to the untrusted system). These well-defined interfaces ensure that all interactions are controlled, reducing unintended data leakage</a:t>
            </a:r>
            <a:endParaRPr lang="en-US">
              <a:ea typeface="+mn-lt"/>
              <a:cs typeface="+mn-lt"/>
            </a:endParaRPr>
          </a:p>
        </p:txBody>
      </p:sp>
      <p:sp>
        <p:nvSpPr>
          <p:cNvPr id="19" name="Shape 17"/>
          <p:cNvSpPr/>
          <p:nvPr/>
        </p:nvSpPr>
        <p:spPr>
          <a:xfrm>
            <a:off x="320040" y="4465718"/>
            <a:ext cx="8503920" cy="502920"/>
          </a:xfrm>
          <a:prstGeom prst="rect">
            <a:avLst/>
          </a:prstGeom>
          <a:solidFill>
            <a:srgbClr val="E8F4FF"/>
          </a:solidFill>
          <a:ln w="12700">
            <a:solidFill>
              <a:srgbClr val="B8D4F0"/>
            </a:solidFill>
            <a:prstDash val="solid"/>
          </a:ln>
        </p:spPr>
        <p:txBody>
          <a:bodyPr/>
          <a:lstStyle/>
          <a:p>
            <a:endParaRPr lang="en-US"/>
          </a:p>
        </p:txBody>
      </p:sp>
      <p:sp>
        <p:nvSpPr>
          <p:cNvPr id="20" name="Text 18"/>
          <p:cNvSpPr/>
          <p:nvPr/>
        </p:nvSpPr>
        <p:spPr>
          <a:xfrm>
            <a:off x="457200" y="4465718"/>
            <a:ext cx="8229600" cy="402336"/>
          </a:xfrm>
          <a:prstGeom prst="rect">
            <a:avLst/>
          </a:prstGeom>
          <a:noFill/>
          <a:ln/>
        </p:spPr>
        <p:txBody>
          <a:bodyPr wrap="square" lIns="0" tIns="0" rIns="0" bIns="0" rtlCol="0" anchor="ctr"/>
          <a:lstStyle/>
          <a:p>
            <a:pPr marL="0" indent="0" algn="l">
              <a:buNone/>
            </a:pPr>
            <a:r>
              <a:rPr lang="en-US" sz="1100"/>
              <a:t>Key Insight: SGX disables hardware single-stepping (RFLAGS.TF) and breakpoints inside enclaves — but APIC timer interrupts still work.</a:t>
            </a:r>
          </a:p>
        </p:txBody>
      </p:sp>
      <p:pic>
        <p:nvPicPr>
          <p:cNvPr id="22" name="Picture 21" descr="A screenshot of a computer screen&#10;&#10;AI-generated content may be incorrect.">
            <a:extLst>
              <a:ext uri="{FF2B5EF4-FFF2-40B4-BE49-F238E27FC236}">
                <a16:creationId xmlns:a16="http://schemas.microsoft.com/office/drawing/2014/main" id="{DA5E97BE-2A57-21E6-9179-4C789857DC8D}"/>
              </a:ext>
            </a:extLst>
          </p:cNvPr>
          <p:cNvPicPr>
            <a:picLocks noChangeAspect="1"/>
          </p:cNvPicPr>
          <p:nvPr/>
        </p:nvPicPr>
        <p:blipFill>
          <a:blip r:embed="rId3"/>
          <a:stretch>
            <a:fillRect/>
          </a:stretch>
        </p:blipFill>
        <p:spPr>
          <a:xfrm>
            <a:off x="0" y="-1"/>
            <a:ext cx="9144000" cy="50715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2800" b="1">
                <a:solidFill>
                  <a:srgbClr val="FFFFFF"/>
                </a:solidFill>
              </a:rPr>
              <a:t>SGX-STEP Outline</a:t>
            </a:r>
            <a:endParaRPr lang="en-US" sz="2800"/>
          </a:p>
        </p:txBody>
      </p:sp>
      <p:sp>
        <p:nvSpPr>
          <p:cNvPr id="3" name="Shape 1"/>
          <p:cNvSpPr/>
          <p:nvPr/>
        </p:nvSpPr>
        <p:spPr>
          <a:xfrm>
            <a:off x="457200" y="694944"/>
            <a:ext cx="4114800" cy="27432"/>
          </a:xfrm>
          <a:prstGeom prst="rect">
            <a:avLst/>
          </a:prstGeom>
          <a:solidFill>
            <a:srgbClr val="00C8FF"/>
          </a:solidFill>
          <a:ln w="12700">
            <a:solidFill>
              <a:srgbClr val="00C8FF"/>
            </a:solidFill>
            <a:prstDash val="solid"/>
          </a:ln>
        </p:spPr>
        <p:txBody>
          <a:bodyPr/>
          <a:lstStyle/>
          <a:p>
            <a:endParaRPr lang="en-US"/>
          </a:p>
        </p:txBody>
      </p:sp>
      <p:sp>
        <p:nvSpPr>
          <p:cNvPr id="4" name="Shape 2"/>
          <p:cNvSpPr/>
          <p:nvPr/>
        </p:nvSpPr>
        <p:spPr>
          <a:xfrm>
            <a:off x="411480" y="932688"/>
            <a:ext cx="201168" cy="201168"/>
          </a:xfrm>
          <a:prstGeom prst="ellipse">
            <a:avLst/>
          </a:prstGeom>
          <a:solidFill>
            <a:srgbClr val="00C8FF"/>
          </a:solidFill>
          <a:ln w="12700">
            <a:solidFill>
              <a:srgbClr val="00C8FF"/>
            </a:solidFill>
            <a:prstDash val="solid"/>
          </a:ln>
        </p:spPr>
        <p:txBody>
          <a:bodyPr/>
          <a:lstStyle/>
          <a:p>
            <a:endParaRPr lang="en-US"/>
          </a:p>
        </p:txBody>
      </p:sp>
      <p:sp>
        <p:nvSpPr>
          <p:cNvPr id="5" name="Text 3"/>
          <p:cNvSpPr/>
          <p:nvPr/>
        </p:nvSpPr>
        <p:spPr>
          <a:xfrm>
            <a:off x="713232" y="914400"/>
            <a:ext cx="4114800" cy="237744"/>
          </a:xfrm>
          <a:prstGeom prst="rect">
            <a:avLst/>
          </a:prstGeom>
          <a:noFill/>
          <a:ln/>
        </p:spPr>
        <p:txBody>
          <a:bodyPr wrap="square" lIns="0" tIns="0" rIns="0" bIns="0" rtlCol="0" anchor="ctr"/>
          <a:lstStyle/>
          <a:p>
            <a:pPr marL="0" indent="0">
              <a:buNone/>
            </a:pPr>
            <a:r>
              <a:rPr lang="en-US" sz="1300" b="1">
                <a:solidFill>
                  <a:srgbClr val="FFFFFF"/>
                </a:solidFill>
              </a:rPr>
              <a:t>Protected Execution</a:t>
            </a:r>
            <a:endParaRPr lang="en-US" sz="1300"/>
          </a:p>
        </p:txBody>
      </p:sp>
      <p:sp>
        <p:nvSpPr>
          <p:cNvPr id="6" name="Text 4"/>
          <p:cNvSpPr/>
          <p:nvPr/>
        </p:nvSpPr>
        <p:spPr>
          <a:xfrm>
            <a:off x="713232" y="1161288"/>
            <a:ext cx="4114800" cy="640080"/>
          </a:xfrm>
          <a:prstGeom prst="rect">
            <a:avLst/>
          </a:prstGeom>
          <a:noFill/>
          <a:ln/>
        </p:spPr>
        <p:txBody>
          <a:bodyPr wrap="square" lIns="0" tIns="0" rIns="0" bIns="0" rtlCol="0" anchor="t"/>
          <a:lstStyle/>
          <a:p>
            <a:pPr marL="0" indent="0">
              <a:buNone/>
            </a:pPr>
            <a:r>
              <a:rPr lang="en-US" sz="1050">
                <a:solidFill>
                  <a:srgbClr val="A8C0E8"/>
                </a:solidFill>
              </a:rPr>
              <a:t>Enclave code/data is encrypted in the memory. The CPU decrypts it only inside the enclave boundary (between EENTER and EEXIT).</a:t>
            </a:r>
            <a:endParaRPr lang="en-US" sz="1050"/>
          </a:p>
        </p:txBody>
      </p:sp>
      <p:sp>
        <p:nvSpPr>
          <p:cNvPr id="7" name="Shape 5"/>
          <p:cNvSpPr/>
          <p:nvPr/>
        </p:nvSpPr>
        <p:spPr>
          <a:xfrm>
            <a:off x="411480" y="1938528"/>
            <a:ext cx="201168" cy="201168"/>
          </a:xfrm>
          <a:prstGeom prst="ellipse">
            <a:avLst/>
          </a:prstGeom>
          <a:solidFill>
            <a:srgbClr val="00C8FF"/>
          </a:solidFill>
          <a:ln w="12700">
            <a:solidFill>
              <a:srgbClr val="00C8FF"/>
            </a:solidFill>
            <a:prstDash val="solid"/>
          </a:ln>
        </p:spPr>
        <p:txBody>
          <a:bodyPr/>
          <a:lstStyle/>
          <a:p>
            <a:endParaRPr lang="en-US"/>
          </a:p>
        </p:txBody>
      </p:sp>
      <p:sp>
        <p:nvSpPr>
          <p:cNvPr id="8" name="Text 6"/>
          <p:cNvSpPr/>
          <p:nvPr/>
        </p:nvSpPr>
        <p:spPr>
          <a:xfrm>
            <a:off x="713232" y="1920240"/>
            <a:ext cx="4114800" cy="237744"/>
          </a:xfrm>
          <a:prstGeom prst="rect">
            <a:avLst/>
          </a:prstGeom>
          <a:noFill/>
          <a:ln/>
        </p:spPr>
        <p:txBody>
          <a:bodyPr wrap="square" lIns="0" tIns="0" rIns="0" bIns="0" rtlCol="0" anchor="ctr"/>
          <a:lstStyle/>
          <a:p>
            <a:pPr marL="0" indent="0">
              <a:buNone/>
            </a:pPr>
            <a:r>
              <a:rPr lang="en-US" sz="1300" b="1">
                <a:solidFill>
                  <a:srgbClr val="FFFFFF"/>
                </a:solidFill>
              </a:rPr>
              <a:t>Asynchronous Enclave Exit (AEX)</a:t>
            </a:r>
            <a:endParaRPr lang="en-US" sz="1300"/>
          </a:p>
        </p:txBody>
      </p:sp>
      <p:sp>
        <p:nvSpPr>
          <p:cNvPr id="9" name="Text 7"/>
          <p:cNvSpPr/>
          <p:nvPr/>
        </p:nvSpPr>
        <p:spPr>
          <a:xfrm>
            <a:off x="713232" y="2167128"/>
            <a:ext cx="4114800" cy="640080"/>
          </a:xfrm>
          <a:prstGeom prst="rect">
            <a:avLst/>
          </a:prstGeom>
          <a:noFill/>
          <a:ln/>
        </p:spPr>
        <p:txBody>
          <a:bodyPr wrap="square" lIns="0" tIns="0" rIns="0" bIns="0" rtlCol="0" anchor="t"/>
          <a:lstStyle/>
          <a:p>
            <a:pPr marL="0" indent="0">
              <a:buNone/>
            </a:pPr>
            <a:r>
              <a:rPr lang="en-US" sz="1050">
                <a:solidFill>
                  <a:srgbClr val="A8C0E8"/>
                </a:solidFill>
              </a:rPr>
              <a:t>On any interrupt or fault, the CPU securely saves state to the SSA frame and exits the enclave to the untrusted handler.</a:t>
            </a:r>
            <a:endParaRPr lang="en-US" sz="1050"/>
          </a:p>
        </p:txBody>
      </p:sp>
      <p:sp>
        <p:nvSpPr>
          <p:cNvPr id="10" name="Shape 8"/>
          <p:cNvSpPr/>
          <p:nvPr/>
        </p:nvSpPr>
        <p:spPr>
          <a:xfrm>
            <a:off x="411480" y="2944368"/>
            <a:ext cx="201168" cy="201168"/>
          </a:xfrm>
          <a:prstGeom prst="ellipse">
            <a:avLst/>
          </a:prstGeom>
          <a:solidFill>
            <a:srgbClr val="00C8FF"/>
          </a:solidFill>
          <a:ln w="12700">
            <a:solidFill>
              <a:srgbClr val="00C8FF"/>
            </a:solidFill>
            <a:prstDash val="solid"/>
          </a:ln>
        </p:spPr>
        <p:txBody>
          <a:bodyPr/>
          <a:lstStyle/>
          <a:p>
            <a:endParaRPr lang="en-US"/>
          </a:p>
        </p:txBody>
      </p:sp>
      <p:sp>
        <p:nvSpPr>
          <p:cNvPr id="11" name="Text 9"/>
          <p:cNvSpPr/>
          <p:nvPr/>
        </p:nvSpPr>
        <p:spPr>
          <a:xfrm>
            <a:off x="713232" y="2926080"/>
            <a:ext cx="4114800" cy="237744"/>
          </a:xfrm>
          <a:prstGeom prst="rect">
            <a:avLst/>
          </a:prstGeom>
          <a:noFill/>
          <a:ln/>
        </p:spPr>
        <p:txBody>
          <a:bodyPr wrap="square" lIns="0" tIns="0" rIns="0" bIns="0" rtlCol="0" anchor="ctr"/>
          <a:lstStyle/>
          <a:p>
            <a:pPr marL="0" indent="0">
              <a:buNone/>
            </a:pPr>
            <a:r>
              <a:rPr lang="en-US" sz="1300" b="1">
                <a:solidFill>
                  <a:srgbClr val="FFFFFF"/>
                </a:solidFill>
              </a:rPr>
              <a:t>ERESUME</a:t>
            </a:r>
            <a:endParaRPr lang="en-US" sz="1300"/>
          </a:p>
        </p:txBody>
      </p:sp>
      <p:sp>
        <p:nvSpPr>
          <p:cNvPr id="12" name="Text 10"/>
          <p:cNvSpPr/>
          <p:nvPr/>
        </p:nvSpPr>
        <p:spPr>
          <a:xfrm>
            <a:off x="713232" y="3172968"/>
            <a:ext cx="4114800" cy="640080"/>
          </a:xfrm>
          <a:prstGeom prst="rect">
            <a:avLst/>
          </a:prstGeom>
          <a:noFill/>
          <a:ln/>
        </p:spPr>
        <p:txBody>
          <a:bodyPr wrap="square" lIns="0" tIns="0" rIns="0" bIns="0" rtlCol="0" anchor="t"/>
          <a:lstStyle/>
          <a:p>
            <a:pPr marL="0" indent="0">
              <a:buNone/>
            </a:pPr>
            <a:r>
              <a:rPr lang="en-US" sz="1050">
                <a:solidFill>
                  <a:srgbClr val="A8C0E8"/>
                </a:solidFill>
              </a:rPr>
              <a:t>The untrusted OS resumes the enclave via ERESUME. An Asynchronous Exit Pointer (AEP) is pushed so the OS can cleanly return.</a:t>
            </a:r>
            <a:endParaRPr lang="en-US" sz="1050"/>
          </a:p>
        </p:txBody>
      </p:sp>
      <p:sp>
        <p:nvSpPr>
          <p:cNvPr id="13" name="Shape 11"/>
          <p:cNvSpPr/>
          <p:nvPr/>
        </p:nvSpPr>
        <p:spPr>
          <a:xfrm>
            <a:off x="411480" y="3950208"/>
            <a:ext cx="201168" cy="201168"/>
          </a:xfrm>
          <a:prstGeom prst="ellipse">
            <a:avLst/>
          </a:prstGeom>
          <a:solidFill>
            <a:srgbClr val="00C8FF"/>
          </a:solidFill>
          <a:ln w="12700">
            <a:solidFill>
              <a:srgbClr val="00C8FF"/>
            </a:solidFill>
            <a:prstDash val="solid"/>
          </a:ln>
        </p:spPr>
        <p:txBody>
          <a:bodyPr/>
          <a:lstStyle/>
          <a:p>
            <a:endParaRPr lang="en-US"/>
          </a:p>
        </p:txBody>
      </p:sp>
      <p:sp>
        <p:nvSpPr>
          <p:cNvPr id="14" name="Text 12"/>
          <p:cNvSpPr/>
          <p:nvPr/>
        </p:nvSpPr>
        <p:spPr>
          <a:xfrm>
            <a:off x="713232" y="3931920"/>
            <a:ext cx="4114800" cy="237744"/>
          </a:xfrm>
          <a:prstGeom prst="rect">
            <a:avLst/>
          </a:prstGeom>
          <a:noFill/>
          <a:ln/>
        </p:spPr>
        <p:txBody>
          <a:bodyPr wrap="square" lIns="0" tIns="0" rIns="0" bIns="0" rtlCol="0" anchor="ctr"/>
          <a:lstStyle/>
          <a:p>
            <a:pPr marL="0" indent="0">
              <a:buNone/>
            </a:pPr>
            <a:r>
              <a:rPr lang="en-US" sz="1300" b="1">
                <a:solidFill>
                  <a:srgbClr val="FFFFFF"/>
                </a:solidFill>
              </a:rPr>
              <a:t>Debug vs. Production</a:t>
            </a:r>
            <a:endParaRPr lang="en-US" sz="1300"/>
          </a:p>
        </p:txBody>
      </p:sp>
      <p:sp>
        <p:nvSpPr>
          <p:cNvPr id="15" name="Text 13"/>
          <p:cNvSpPr/>
          <p:nvPr/>
        </p:nvSpPr>
        <p:spPr>
          <a:xfrm>
            <a:off x="713232" y="4178808"/>
            <a:ext cx="4114800" cy="640080"/>
          </a:xfrm>
          <a:prstGeom prst="rect">
            <a:avLst/>
          </a:prstGeom>
          <a:noFill/>
          <a:ln/>
        </p:spPr>
        <p:txBody>
          <a:bodyPr wrap="square" lIns="0" tIns="0" rIns="0" bIns="0" rtlCol="0" anchor="t"/>
          <a:lstStyle/>
          <a:p>
            <a:pPr marL="0" indent="0">
              <a:buNone/>
            </a:pPr>
            <a:r>
              <a:rPr lang="en-US" sz="1050">
                <a:solidFill>
                  <a:srgbClr val="A8C0E8"/>
                </a:solidFill>
              </a:rPr>
              <a:t>Debug enclaves allow EDBGRD to read SSA. Production enclaves block all such reads — our attack works on production mode.</a:t>
            </a:r>
            <a:endParaRPr lang="en-US" sz="1050"/>
          </a:p>
        </p:txBody>
      </p:sp>
      <p:sp>
        <p:nvSpPr>
          <p:cNvPr id="16" name="Text 14"/>
          <p:cNvSpPr/>
          <p:nvPr/>
        </p:nvSpPr>
        <p:spPr>
          <a:xfrm>
            <a:off x="5486400" y="868680"/>
            <a:ext cx="3383280" cy="274320"/>
          </a:xfrm>
          <a:prstGeom prst="rect">
            <a:avLst/>
          </a:prstGeom>
          <a:noFill/>
          <a:ln/>
        </p:spPr>
        <p:txBody>
          <a:bodyPr wrap="square" lIns="0" tIns="0" rIns="0" bIns="0" rtlCol="0" anchor="ctr"/>
          <a:lstStyle/>
          <a:p>
            <a:pPr marL="0" indent="0" algn="ctr">
              <a:buNone/>
            </a:pPr>
            <a:r>
              <a:rPr lang="en-US" sz="1200" b="1">
                <a:solidFill>
                  <a:srgbClr val="00C8FF"/>
                </a:solidFill>
              </a:rPr>
              <a:t>SGX Single-Step Flow</a:t>
            </a:r>
            <a:endParaRPr lang="en-US" sz="1200"/>
          </a:p>
        </p:txBody>
      </p:sp>
      <p:sp>
        <p:nvSpPr>
          <p:cNvPr id="17" name="Shape 15"/>
          <p:cNvSpPr/>
          <p:nvPr/>
        </p:nvSpPr>
        <p:spPr>
          <a:xfrm>
            <a:off x="5669280" y="1261872"/>
            <a:ext cx="3017520" cy="548640"/>
          </a:xfrm>
          <a:prstGeom prst="rect">
            <a:avLst/>
          </a:prstGeom>
          <a:solidFill>
            <a:srgbClr val="00C8FF">
              <a:alpha val="80000"/>
            </a:srgbClr>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5669280" y="1261872"/>
            <a:ext cx="3017520" cy="548640"/>
          </a:xfrm>
          <a:prstGeom prst="rect">
            <a:avLst/>
          </a:prstGeom>
          <a:noFill/>
          <a:ln/>
        </p:spPr>
        <p:txBody>
          <a:bodyPr wrap="square" lIns="0" tIns="0" rIns="0" bIns="0" rtlCol="0" anchor="ctr"/>
          <a:lstStyle/>
          <a:p>
            <a:pPr marL="0" indent="0" algn="ctr">
              <a:buNone/>
            </a:pPr>
            <a:r>
              <a:rPr lang="en-US" sz="1200" b="1">
                <a:solidFill>
                  <a:srgbClr val="FFFFFF"/>
                </a:solidFill>
              </a:rPr>
              <a:t>APIC Timer</a:t>
            </a:r>
            <a:endParaRPr lang="en-US" sz="1200"/>
          </a:p>
          <a:p>
            <a:pPr marL="0" indent="0" algn="ctr">
              <a:buNone/>
            </a:pPr>
            <a:r>
              <a:rPr lang="en-US" sz="1200" b="1">
                <a:solidFill>
                  <a:srgbClr val="FFFFFF"/>
                </a:solidFill>
              </a:rPr>
              <a:t>Fires</a:t>
            </a:r>
            <a:endParaRPr lang="en-US" sz="1200"/>
          </a:p>
        </p:txBody>
      </p:sp>
      <p:sp>
        <p:nvSpPr>
          <p:cNvPr id="19" name="Shape 17"/>
          <p:cNvSpPr/>
          <p:nvPr/>
        </p:nvSpPr>
        <p:spPr>
          <a:xfrm>
            <a:off x="6995160" y="1810512"/>
            <a:ext cx="36576" cy="347472"/>
          </a:xfrm>
          <a:prstGeom prst="rect">
            <a:avLst/>
          </a:prstGeom>
          <a:solidFill>
            <a:srgbClr val="A8C0E8"/>
          </a:solidFill>
          <a:ln w="12700">
            <a:solidFill>
              <a:srgbClr val="A8C0E8"/>
            </a:solidFill>
            <a:prstDash val="solid"/>
          </a:ln>
        </p:spPr>
        <p:txBody>
          <a:bodyPr/>
          <a:lstStyle/>
          <a:p>
            <a:endParaRPr lang="en-US"/>
          </a:p>
        </p:txBody>
      </p:sp>
      <p:sp>
        <p:nvSpPr>
          <p:cNvPr id="20" name="Text 18"/>
          <p:cNvSpPr/>
          <p:nvPr/>
        </p:nvSpPr>
        <p:spPr>
          <a:xfrm>
            <a:off x="6812280" y="2084832"/>
            <a:ext cx="402336" cy="182880"/>
          </a:xfrm>
          <a:prstGeom prst="rect">
            <a:avLst/>
          </a:prstGeom>
          <a:noFill/>
          <a:ln/>
        </p:spPr>
        <p:txBody>
          <a:bodyPr wrap="square" lIns="0" tIns="0" rIns="0" bIns="0" rtlCol="0" anchor="ctr"/>
          <a:lstStyle/>
          <a:p>
            <a:pPr marL="0" indent="0" algn="ctr">
              <a:buNone/>
            </a:pPr>
            <a:r>
              <a:rPr lang="en-US" sz="1000">
                <a:solidFill>
                  <a:srgbClr val="A8C0E8"/>
                </a:solidFill>
              </a:rPr>
              <a:t>▼</a:t>
            </a:r>
            <a:endParaRPr lang="en-US" sz="1000"/>
          </a:p>
        </p:txBody>
      </p:sp>
      <p:sp>
        <p:nvSpPr>
          <p:cNvPr id="21" name="Shape 19"/>
          <p:cNvSpPr/>
          <p:nvPr/>
        </p:nvSpPr>
        <p:spPr>
          <a:xfrm>
            <a:off x="5669280" y="2176272"/>
            <a:ext cx="3017520" cy="548640"/>
          </a:xfrm>
          <a:prstGeom prst="rect">
            <a:avLst/>
          </a:prstGeom>
          <a:solidFill>
            <a:srgbClr val="7B61FF">
              <a:alpha val="80000"/>
            </a:srgbClr>
          </a:solidFill>
          <a:ln w="19050">
            <a:solidFill>
              <a:srgbClr val="7B61FF"/>
            </a:solidFill>
            <a:prstDash val="solid"/>
          </a:ln>
          <a:effectLst>
            <a:outerShdw blurRad="101600" dist="38100" dir="8100000" algn="bl" rotWithShape="0">
              <a:srgbClr val="000000">
                <a:alpha val="18000"/>
              </a:srgbClr>
            </a:outerShdw>
          </a:effectLst>
        </p:spPr>
        <p:txBody>
          <a:bodyPr/>
          <a:lstStyle/>
          <a:p>
            <a:endParaRPr lang="en-US"/>
          </a:p>
        </p:txBody>
      </p:sp>
      <p:sp>
        <p:nvSpPr>
          <p:cNvPr id="22" name="Text 20"/>
          <p:cNvSpPr/>
          <p:nvPr/>
        </p:nvSpPr>
        <p:spPr>
          <a:xfrm>
            <a:off x="5669280" y="2176272"/>
            <a:ext cx="3017520" cy="548640"/>
          </a:xfrm>
          <a:prstGeom prst="rect">
            <a:avLst/>
          </a:prstGeom>
          <a:noFill/>
          <a:ln/>
        </p:spPr>
        <p:txBody>
          <a:bodyPr wrap="square" lIns="0" tIns="0" rIns="0" bIns="0" rtlCol="0" anchor="ctr"/>
          <a:lstStyle/>
          <a:p>
            <a:pPr marL="0" indent="0" algn="ctr">
              <a:buNone/>
            </a:pPr>
            <a:r>
              <a:rPr lang="en-US" sz="1200" b="1">
                <a:solidFill>
                  <a:srgbClr val="FFFFFF"/>
                </a:solidFill>
              </a:rPr>
              <a:t>AEX — Save</a:t>
            </a:r>
            <a:endParaRPr lang="en-US" sz="1200"/>
          </a:p>
          <a:p>
            <a:pPr marL="0" indent="0" algn="ctr">
              <a:buNone/>
            </a:pPr>
            <a:r>
              <a:rPr lang="en-US" sz="1200" b="1">
                <a:solidFill>
                  <a:srgbClr val="FFFFFF"/>
                </a:solidFill>
              </a:rPr>
              <a:t>Context to SSA</a:t>
            </a:r>
            <a:endParaRPr lang="en-US" sz="1200"/>
          </a:p>
        </p:txBody>
      </p:sp>
      <p:sp>
        <p:nvSpPr>
          <p:cNvPr id="23" name="Shape 21"/>
          <p:cNvSpPr/>
          <p:nvPr/>
        </p:nvSpPr>
        <p:spPr>
          <a:xfrm>
            <a:off x="6995160" y="2724912"/>
            <a:ext cx="36576" cy="347472"/>
          </a:xfrm>
          <a:prstGeom prst="rect">
            <a:avLst/>
          </a:prstGeom>
          <a:solidFill>
            <a:srgbClr val="A8C0E8"/>
          </a:solidFill>
          <a:ln w="12700">
            <a:solidFill>
              <a:srgbClr val="A8C0E8"/>
            </a:solidFill>
            <a:prstDash val="solid"/>
          </a:ln>
        </p:spPr>
        <p:txBody>
          <a:bodyPr/>
          <a:lstStyle/>
          <a:p>
            <a:endParaRPr lang="en-US"/>
          </a:p>
        </p:txBody>
      </p:sp>
      <p:sp>
        <p:nvSpPr>
          <p:cNvPr id="24" name="Text 22"/>
          <p:cNvSpPr/>
          <p:nvPr/>
        </p:nvSpPr>
        <p:spPr>
          <a:xfrm>
            <a:off x="6812280" y="2999232"/>
            <a:ext cx="402336" cy="182880"/>
          </a:xfrm>
          <a:prstGeom prst="rect">
            <a:avLst/>
          </a:prstGeom>
          <a:noFill/>
          <a:ln/>
        </p:spPr>
        <p:txBody>
          <a:bodyPr wrap="square" lIns="0" tIns="0" rIns="0" bIns="0" rtlCol="0" anchor="ctr"/>
          <a:lstStyle/>
          <a:p>
            <a:pPr marL="0" indent="0" algn="ctr">
              <a:buNone/>
            </a:pPr>
            <a:r>
              <a:rPr lang="en-US" sz="1000">
                <a:solidFill>
                  <a:srgbClr val="A8C0E8"/>
                </a:solidFill>
              </a:rPr>
              <a:t>▼</a:t>
            </a:r>
            <a:endParaRPr lang="en-US" sz="1000"/>
          </a:p>
        </p:txBody>
      </p:sp>
      <p:sp>
        <p:nvSpPr>
          <p:cNvPr id="25" name="Shape 23"/>
          <p:cNvSpPr/>
          <p:nvPr/>
        </p:nvSpPr>
        <p:spPr>
          <a:xfrm>
            <a:off x="5669280" y="3090672"/>
            <a:ext cx="3017520" cy="548640"/>
          </a:xfrm>
          <a:prstGeom prst="rect">
            <a:avLst/>
          </a:prstGeom>
          <a:solidFill>
            <a:srgbClr val="00D48B">
              <a:alpha val="80000"/>
            </a:srgbClr>
          </a:solidFill>
          <a:ln w="19050">
            <a:solidFill>
              <a:srgbClr val="00D48B"/>
            </a:solidFill>
            <a:prstDash val="solid"/>
          </a:ln>
          <a:effectLst>
            <a:outerShdw blurRad="101600" dist="38100" dir="8100000" algn="bl" rotWithShape="0">
              <a:srgbClr val="000000">
                <a:alpha val="18000"/>
              </a:srgbClr>
            </a:outerShdw>
          </a:effectLst>
        </p:spPr>
        <p:txBody>
          <a:bodyPr/>
          <a:lstStyle/>
          <a:p>
            <a:endParaRPr lang="en-US"/>
          </a:p>
        </p:txBody>
      </p:sp>
      <p:sp>
        <p:nvSpPr>
          <p:cNvPr id="26" name="Text 24"/>
          <p:cNvSpPr/>
          <p:nvPr/>
        </p:nvSpPr>
        <p:spPr>
          <a:xfrm>
            <a:off x="5669280" y="3090672"/>
            <a:ext cx="3017520" cy="548640"/>
          </a:xfrm>
          <a:prstGeom prst="rect">
            <a:avLst/>
          </a:prstGeom>
          <a:noFill/>
          <a:ln/>
        </p:spPr>
        <p:txBody>
          <a:bodyPr wrap="square" lIns="0" tIns="0" rIns="0" bIns="0" rtlCol="0" anchor="ctr"/>
          <a:lstStyle/>
          <a:p>
            <a:pPr marL="0" indent="0" algn="ctr">
              <a:buNone/>
            </a:pPr>
            <a:r>
              <a:rPr lang="en-US" sz="1200" b="1">
                <a:solidFill>
                  <a:srgbClr val="FFFFFF"/>
                </a:solidFill>
              </a:rPr>
              <a:t>Run AEP</a:t>
            </a:r>
            <a:endParaRPr lang="en-US" sz="1200"/>
          </a:p>
          <a:p>
            <a:pPr marL="0" indent="0" algn="ctr">
              <a:buNone/>
            </a:pPr>
            <a:r>
              <a:rPr lang="en-US" sz="1200" b="1">
                <a:solidFill>
                  <a:srgbClr val="FFFFFF"/>
                </a:solidFill>
              </a:rPr>
              <a:t>(our spy code)</a:t>
            </a:r>
            <a:endParaRPr lang="en-US" sz="1200"/>
          </a:p>
        </p:txBody>
      </p:sp>
      <p:sp>
        <p:nvSpPr>
          <p:cNvPr id="27" name="Shape 25"/>
          <p:cNvSpPr/>
          <p:nvPr/>
        </p:nvSpPr>
        <p:spPr>
          <a:xfrm>
            <a:off x="6995160" y="3639312"/>
            <a:ext cx="36576" cy="347472"/>
          </a:xfrm>
          <a:prstGeom prst="rect">
            <a:avLst/>
          </a:prstGeom>
          <a:solidFill>
            <a:srgbClr val="A8C0E8"/>
          </a:solidFill>
          <a:ln w="12700">
            <a:solidFill>
              <a:srgbClr val="A8C0E8"/>
            </a:solidFill>
            <a:prstDash val="solid"/>
          </a:ln>
        </p:spPr>
        <p:txBody>
          <a:bodyPr/>
          <a:lstStyle/>
          <a:p>
            <a:endParaRPr lang="en-US"/>
          </a:p>
        </p:txBody>
      </p:sp>
      <p:sp>
        <p:nvSpPr>
          <p:cNvPr id="28" name="Text 26"/>
          <p:cNvSpPr/>
          <p:nvPr/>
        </p:nvSpPr>
        <p:spPr>
          <a:xfrm>
            <a:off x="6812280" y="3913632"/>
            <a:ext cx="402336" cy="182880"/>
          </a:xfrm>
          <a:prstGeom prst="rect">
            <a:avLst/>
          </a:prstGeom>
          <a:noFill/>
          <a:ln/>
        </p:spPr>
        <p:txBody>
          <a:bodyPr wrap="square" lIns="0" tIns="0" rIns="0" bIns="0" rtlCol="0" anchor="ctr"/>
          <a:lstStyle/>
          <a:p>
            <a:pPr marL="0" indent="0" algn="ctr">
              <a:buNone/>
            </a:pPr>
            <a:r>
              <a:rPr lang="en-US" sz="1000">
                <a:solidFill>
                  <a:srgbClr val="A8C0E8"/>
                </a:solidFill>
              </a:rPr>
              <a:t>▼</a:t>
            </a:r>
            <a:endParaRPr lang="en-US" sz="1000"/>
          </a:p>
        </p:txBody>
      </p:sp>
      <p:sp>
        <p:nvSpPr>
          <p:cNvPr id="29" name="Shape 27"/>
          <p:cNvSpPr/>
          <p:nvPr/>
        </p:nvSpPr>
        <p:spPr>
          <a:xfrm>
            <a:off x="5669280" y="4005072"/>
            <a:ext cx="3017520" cy="548640"/>
          </a:xfrm>
          <a:prstGeom prst="rect">
            <a:avLst/>
          </a:prstGeom>
          <a:solidFill>
            <a:srgbClr val="00C8FF">
              <a:alpha val="80000"/>
            </a:srgbClr>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30" name="Text 28"/>
          <p:cNvSpPr/>
          <p:nvPr/>
        </p:nvSpPr>
        <p:spPr>
          <a:xfrm>
            <a:off x="5669280" y="4005072"/>
            <a:ext cx="3017520" cy="548640"/>
          </a:xfrm>
          <a:prstGeom prst="rect">
            <a:avLst/>
          </a:prstGeom>
          <a:noFill/>
          <a:ln/>
        </p:spPr>
        <p:txBody>
          <a:bodyPr wrap="square" lIns="0" tIns="0" rIns="0" bIns="0" rtlCol="0" anchor="ctr"/>
          <a:lstStyle/>
          <a:p>
            <a:pPr marL="0" indent="0" algn="ctr">
              <a:buNone/>
            </a:pPr>
            <a:r>
              <a:rPr lang="en-US" sz="1200" b="1">
                <a:solidFill>
                  <a:srgbClr val="FFFFFF"/>
                </a:solidFill>
              </a:rPr>
              <a:t>ERESUME</a:t>
            </a:r>
            <a:endParaRPr lang="en-US" sz="1200"/>
          </a:p>
          <a:p>
            <a:pPr marL="0" indent="0" algn="ctr">
              <a:buNone/>
            </a:pPr>
            <a:r>
              <a:rPr lang="en-US" sz="1200" b="1">
                <a:solidFill>
                  <a:srgbClr val="FFFFFF"/>
                </a:solidFill>
              </a:rPr>
              <a:t>(next instruction)</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1" y="0"/>
            <a:ext cx="9143771" cy="51435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15136FC1-089B-C205-51B3-3DCB12917653}"/>
              </a:ext>
            </a:extLst>
          </p:cNvPr>
          <p:cNvPicPr>
            <a:picLocks noChangeAspect="1"/>
          </p:cNvPicPr>
          <p:nvPr/>
        </p:nvPicPr>
        <p:blipFill>
          <a:blip r:embed="rId3"/>
          <a:stretch>
            <a:fillRect/>
          </a:stretch>
        </p:blipFill>
        <p:spPr>
          <a:xfrm>
            <a:off x="0" y="0"/>
            <a:ext cx="9143770" cy="5140636"/>
          </a:xfrm>
          <a:prstGeom prst="rect">
            <a:avLst/>
          </a:prstGeom>
        </p:spPr>
      </p:pic>
    </p:spTree>
    <p:extLst>
      <p:ext uri="{BB962C8B-B14F-4D97-AF65-F5344CB8AC3E}">
        <p14:creationId xmlns:p14="http://schemas.microsoft.com/office/powerpoint/2010/main" val="140450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buNone/>
            </a:pPr>
            <a:r>
              <a:rPr lang="en-US" sz="2800" b="1">
                <a:solidFill>
                  <a:srgbClr val="FFFFFF"/>
                </a:solidFill>
              </a:rPr>
              <a:t>Full Attack Flow</a:t>
            </a:r>
            <a:endParaRPr lang="en-US" sz="2800"/>
          </a:p>
        </p:txBody>
      </p:sp>
      <p:sp>
        <p:nvSpPr>
          <p:cNvPr id="3" name="Shape 1"/>
          <p:cNvSpPr/>
          <p:nvPr/>
        </p:nvSpPr>
        <p:spPr>
          <a:xfrm>
            <a:off x="457200" y="676656"/>
            <a:ext cx="8229600" cy="27432"/>
          </a:xfrm>
          <a:prstGeom prst="rect">
            <a:avLst/>
          </a:prstGeom>
          <a:solidFill>
            <a:srgbClr val="00C8FF"/>
          </a:solidFill>
          <a:ln w="12700">
            <a:solidFill>
              <a:srgbClr val="00C8FF"/>
            </a:solidFill>
            <a:prstDash val="solid"/>
          </a:ln>
        </p:spPr>
        <p:txBody>
          <a:bodyPr/>
          <a:lstStyle/>
          <a:p>
            <a:endParaRPr lang="en-US"/>
          </a:p>
        </p:txBody>
      </p:sp>
      <p:sp>
        <p:nvSpPr>
          <p:cNvPr id="4" name="Shape 2"/>
          <p:cNvSpPr/>
          <p:nvPr/>
        </p:nvSpPr>
        <p:spPr>
          <a:xfrm>
            <a:off x="365760" y="914400"/>
            <a:ext cx="4069080" cy="1207008"/>
          </a:xfrm>
          <a:prstGeom prst="rect">
            <a:avLst/>
          </a:prstGeom>
          <a:solidFill>
            <a:srgbClr val="112240"/>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02920" y="1170432"/>
            <a:ext cx="475488" cy="475488"/>
          </a:xfrm>
          <a:prstGeom prst="ellipse">
            <a:avLst/>
          </a:prstGeom>
          <a:solidFill>
            <a:srgbClr val="00C8FF"/>
          </a:solidFill>
          <a:ln w="12700">
            <a:solidFill>
              <a:srgbClr val="00C8FF"/>
            </a:solidFill>
            <a:prstDash val="solid"/>
          </a:ln>
        </p:spPr>
        <p:txBody>
          <a:bodyPr/>
          <a:lstStyle/>
          <a:p>
            <a:endParaRPr lang="en-US"/>
          </a:p>
        </p:txBody>
      </p:sp>
      <p:sp>
        <p:nvSpPr>
          <p:cNvPr id="6" name="Text 4"/>
          <p:cNvSpPr/>
          <p:nvPr/>
        </p:nvSpPr>
        <p:spPr>
          <a:xfrm>
            <a:off x="502920" y="1170432"/>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1</a:t>
            </a:r>
            <a:endParaRPr lang="en-US" sz="1600"/>
          </a:p>
        </p:txBody>
      </p:sp>
      <p:sp>
        <p:nvSpPr>
          <p:cNvPr id="7" name="Text 5"/>
          <p:cNvSpPr/>
          <p:nvPr/>
        </p:nvSpPr>
        <p:spPr>
          <a:xfrm>
            <a:off x="1078992" y="1005840"/>
            <a:ext cx="3246120" cy="347472"/>
          </a:xfrm>
          <a:prstGeom prst="rect">
            <a:avLst/>
          </a:prstGeom>
          <a:noFill/>
          <a:ln/>
        </p:spPr>
        <p:txBody>
          <a:bodyPr wrap="square" lIns="0" tIns="0" rIns="0" bIns="0" rtlCol="0" anchor="ctr"/>
          <a:lstStyle/>
          <a:p>
            <a:pPr marL="0" indent="0">
              <a:buNone/>
            </a:pPr>
            <a:r>
              <a:rPr lang="en-US" sz="1250" b="1">
                <a:solidFill>
                  <a:srgbClr val="FFFFFF"/>
                </a:solidFill>
              </a:rPr>
              <a:t>Generate random 128-bit key</a:t>
            </a:r>
            <a:endParaRPr lang="en-US" sz="1250"/>
          </a:p>
        </p:txBody>
      </p:sp>
      <p:sp>
        <p:nvSpPr>
          <p:cNvPr id="8" name="Text 6"/>
          <p:cNvSpPr/>
          <p:nvPr/>
        </p:nvSpPr>
        <p:spPr>
          <a:xfrm>
            <a:off x="1078992" y="1371600"/>
            <a:ext cx="3246120" cy="658368"/>
          </a:xfrm>
          <a:prstGeom prst="rect">
            <a:avLst/>
          </a:prstGeom>
          <a:noFill/>
          <a:ln/>
        </p:spPr>
        <p:txBody>
          <a:bodyPr wrap="square" lIns="0" tIns="0" rIns="0" bIns="0" rtlCol="0" anchor="t"/>
          <a:lstStyle/>
          <a:p>
            <a:pPr marL="285750" indent="-285750">
              <a:buFont typeface="Arial"/>
              <a:buChar char="•"/>
            </a:pPr>
            <a:r>
              <a:rPr lang="en-US" sz="950">
                <a:solidFill>
                  <a:srgbClr val="A8C0E8"/>
                </a:solidFill>
                <a:ea typeface="+mn-lt"/>
                <a:cs typeface="+mn-lt"/>
              </a:rPr>
              <a:t>128-bit secret generated (</a:t>
            </a:r>
            <a:r>
              <a:rPr lang="en-US" sz="950">
                <a:solidFill>
                  <a:srgbClr val="A8C0E8"/>
                </a:solidFill>
                <a:latin typeface="Consolas"/>
              </a:rPr>
              <a:t>rand() &amp; 1</a:t>
            </a:r>
            <a:r>
              <a:rPr lang="en-US" sz="950">
                <a:solidFill>
                  <a:srgbClr val="A8C0E8"/>
                </a:solidFill>
                <a:ea typeface="+mn-lt"/>
                <a:cs typeface="+mn-lt"/>
              </a:rPr>
              <a:t> per bit) </a:t>
            </a:r>
            <a:endParaRPr lang="en-US">
              <a:ea typeface="Calibri" panose="020F0502020204030204"/>
              <a:cs typeface="Calibri" panose="020F0502020204030204"/>
            </a:endParaRPr>
          </a:p>
          <a:p>
            <a:pPr marL="285750" indent="-285750">
              <a:buFont typeface="Arial"/>
              <a:buChar char="•"/>
            </a:pPr>
            <a:r>
              <a:rPr lang="en-US" sz="950">
                <a:solidFill>
                  <a:srgbClr val="A8C0E8"/>
                </a:solidFill>
                <a:ea typeface="+mn-lt"/>
                <a:cs typeface="+mn-lt"/>
              </a:rPr>
              <a:t>Passed as input to enclave function </a:t>
            </a:r>
            <a:endParaRPr lang="en-US"/>
          </a:p>
          <a:p>
            <a:pPr marL="285750" indent="-285750">
              <a:buFont typeface="Arial"/>
              <a:buChar char="•"/>
            </a:pPr>
            <a:r>
              <a:rPr lang="en-US" sz="950">
                <a:solidFill>
                  <a:srgbClr val="A8C0E8"/>
                </a:solidFill>
                <a:ea typeface="+mn-lt"/>
                <a:cs typeface="+mn-lt"/>
              </a:rPr>
              <a:t>Used as </a:t>
            </a:r>
            <a:r>
              <a:rPr lang="en-US" sz="950" b="1">
                <a:solidFill>
                  <a:srgbClr val="A8C0E8"/>
                </a:solidFill>
                <a:ea typeface="+mn-lt"/>
                <a:cs typeface="+mn-lt"/>
              </a:rPr>
              <a:t>ground truth to evaluate attack accuracy</a:t>
            </a:r>
            <a:endParaRPr lang="en-US"/>
          </a:p>
          <a:p>
            <a:pPr marL="0" indent="0">
              <a:buNone/>
            </a:pPr>
            <a:endParaRPr lang="en-US" sz="950">
              <a:solidFill>
                <a:srgbClr val="A8C0E8"/>
              </a:solidFill>
              <a:ea typeface="Calibri"/>
              <a:cs typeface="Calibri"/>
            </a:endParaRPr>
          </a:p>
        </p:txBody>
      </p:sp>
      <p:sp>
        <p:nvSpPr>
          <p:cNvPr id="9" name="Shape 7"/>
          <p:cNvSpPr/>
          <p:nvPr/>
        </p:nvSpPr>
        <p:spPr>
          <a:xfrm>
            <a:off x="4709160" y="914400"/>
            <a:ext cx="4069080" cy="1207008"/>
          </a:xfrm>
          <a:prstGeom prst="rect">
            <a:avLst/>
          </a:prstGeom>
          <a:solidFill>
            <a:srgbClr val="112240"/>
          </a:solidFill>
          <a:ln w="19050">
            <a:solidFill>
              <a:srgbClr val="7B61FF"/>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846320" y="1170432"/>
            <a:ext cx="475488" cy="475488"/>
          </a:xfrm>
          <a:prstGeom prst="ellipse">
            <a:avLst/>
          </a:prstGeom>
          <a:solidFill>
            <a:srgbClr val="7B61FF"/>
          </a:solidFill>
          <a:ln w="12700">
            <a:solidFill>
              <a:srgbClr val="7B61FF"/>
            </a:solidFill>
            <a:prstDash val="solid"/>
          </a:ln>
        </p:spPr>
        <p:txBody>
          <a:bodyPr/>
          <a:lstStyle/>
          <a:p>
            <a:endParaRPr lang="en-US"/>
          </a:p>
        </p:txBody>
      </p:sp>
      <p:sp>
        <p:nvSpPr>
          <p:cNvPr id="11" name="Text 9"/>
          <p:cNvSpPr/>
          <p:nvPr/>
        </p:nvSpPr>
        <p:spPr>
          <a:xfrm>
            <a:off x="4846320" y="1170432"/>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2</a:t>
            </a:r>
            <a:endParaRPr lang="en-US" sz="1600"/>
          </a:p>
        </p:txBody>
      </p:sp>
      <p:sp>
        <p:nvSpPr>
          <p:cNvPr id="12" name="Text 10"/>
          <p:cNvSpPr/>
          <p:nvPr/>
        </p:nvSpPr>
        <p:spPr>
          <a:xfrm>
            <a:off x="5422392" y="1005840"/>
            <a:ext cx="3246120" cy="347472"/>
          </a:xfrm>
          <a:prstGeom prst="rect">
            <a:avLst/>
          </a:prstGeom>
          <a:noFill/>
          <a:ln/>
        </p:spPr>
        <p:txBody>
          <a:bodyPr wrap="square" lIns="0" tIns="0" rIns="0" bIns="0" rtlCol="0" anchor="ctr"/>
          <a:lstStyle/>
          <a:p>
            <a:r>
              <a:rPr lang="en-US" sz="1250" b="1">
                <a:solidFill>
                  <a:srgbClr val="FFFFFF"/>
                </a:solidFill>
                <a:ea typeface="+mn-lt"/>
                <a:cs typeface="+mn-lt"/>
              </a:rPr>
              <a:t>Initialize enclave (warm-up run)</a:t>
            </a:r>
            <a:endParaRPr lang="en-US" b="1">
              <a:ea typeface="Calibri"/>
              <a:cs typeface="Calibri"/>
            </a:endParaRPr>
          </a:p>
        </p:txBody>
      </p:sp>
      <p:sp>
        <p:nvSpPr>
          <p:cNvPr id="13" name="Text 11"/>
          <p:cNvSpPr/>
          <p:nvPr/>
        </p:nvSpPr>
        <p:spPr>
          <a:xfrm>
            <a:off x="5422392" y="1371600"/>
            <a:ext cx="3246120" cy="658368"/>
          </a:xfrm>
          <a:prstGeom prst="rect">
            <a:avLst/>
          </a:prstGeom>
          <a:noFill/>
          <a:ln/>
        </p:spPr>
        <p:txBody>
          <a:bodyPr wrap="square" lIns="0" tIns="0" rIns="0" bIns="0" rtlCol="0" anchor="t"/>
          <a:lstStyle/>
          <a:p>
            <a:pPr marL="285750" indent="-285750">
              <a:buFont typeface="Arial"/>
              <a:buChar char="•"/>
            </a:pPr>
            <a:r>
              <a:rPr lang="en-US" sz="950" err="1">
                <a:solidFill>
                  <a:srgbClr val="A8C0E8"/>
                </a:solidFill>
                <a:latin typeface="Consolas"/>
              </a:rPr>
              <a:t>sgx_create_enclave</a:t>
            </a:r>
            <a:r>
              <a:rPr lang="en-US" sz="950">
                <a:solidFill>
                  <a:srgbClr val="A8C0E8"/>
                </a:solidFill>
                <a:latin typeface="Consolas"/>
              </a:rPr>
              <a:t>()</a:t>
            </a:r>
            <a:r>
              <a:rPr lang="en-US" sz="950">
                <a:solidFill>
                  <a:srgbClr val="A8C0E8"/>
                </a:solidFill>
                <a:ea typeface="+mn-lt"/>
                <a:cs typeface="+mn-lt"/>
              </a:rPr>
              <a:t> sets up trusted execution </a:t>
            </a:r>
            <a:endParaRPr lang="en-US"/>
          </a:p>
          <a:p>
            <a:pPr marL="285750" indent="-285750">
              <a:buFont typeface="Arial"/>
              <a:buChar char="•"/>
            </a:pPr>
            <a:r>
              <a:rPr lang="en-US" sz="950">
                <a:solidFill>
                  <a:srgbClr val="A8C0E8"/>
                </a:solidFill>
                <a:ea typeface="+mn-lt"/>
                <a:cs typeface="+mn-lt"/>
              </a:rPr>
              <a:t>First </a:t>
            </a:r>
            <a:r>
              <a:rPr lang="en-US" sz="950" err="1">
                <a:solidFill>
                  <a:srgbClr val="A8C0E8"/>
                </a:solidFill>
                <a:latin typeface="Consolas"/>
              </a:rPr>
              <a:t>ecall_process_bits</a:t>
            </a:r>
            <a:r>
              <a:rPr lang="en-US" sz="950">
                <a:solidFill>
                  <a:srgbClr val="A8C0E8"/>
                </a:solidFill>
                <a:latin typeface="Consolas"/>
              </a:rPr>
              <a:t>()</a:t>
            </a:r>
            <a:r>
              <a:rPr lang="en-US" sz="950">
                <a:solidFill>
                  <a:srgbClr val="A8C0E8"/>
                </a:solidFill>
                <a:ea typeface="+mn-lt"/>
                <a:cs typeface="+mn-lt"/>
              </a:rPr>
              <a:t> performs a dry run </a:t>
            </a:r>
            <a:endParaRPr lang="en-US"/>
          </a:p>
          <a:p>
            <a:pPr marL="285750" indent="-285750">
              <a:buFont typeface="Arial"/>
              <a:buChar char="•"/>
            </a:pPr>
            <a:r>
              <a:rPr lang="en-US" sz="950">
                <a:solidFill>
                  <a:srgbClr val="A8C0E8"/>
                </a:solidFill>
                <a:ea typeface="+mn-lt"/>
                <a:cs typeface="+mn-lt"/>
              </a:rPr>
              <a:t>Ensures all enclave pages are </a:t>
            </a:r>
            <a:r>
              <a:rPr lang="en-US" sz="950" b="1">
                <a:solidFill>
                  <a:srgbClr val="A8C0E8"/>
                </a:solidFill>
                <a:ea typeface="+mn-lt"/>
                <a:cs typeface="+mn-lt"/>
              </a:rPr>
              <a:t>loaded into memory</a:t>
            </a:r>
            <a:endParaRPr lang="en-US" b="1">
              <a:ea typeface="+mn-lt"/>
              <a:cs typeface="+mn-lt"/>
            </a:endParaRPr>
          </a:p>
          <a:p>
            <a:pPr marL="0" indent="0">
              <a:buNone/>
            </a:pPr>
            <a:endParaRPr lang="en-US" sz="950">
              <a:solidFill>
                <a:srgbClr val="A8C0E8"/>
              </a:solidFill>
              <a:ea typeface="Calibri"/>
              <a:cs typeface="Calibri"/>
            </a:endParaRPr>
          </a:p>
        </p:txBody>
      </p:sp>
      <p:sp>
        <p:nvSpPr>
          <p:cNvPr id="14" name="Shape 12"/>
          <p:cNvSpPr/>
          <p:nvPr/>
        </p:nvSpPr>
        <p:spPr>
          <a:xfrm>
            <a:off x="365760" y="2267712"/>
            <a:ext cx="4069080" cy="1207008"/>
          </a:xfrm>
          <a:prstGeom prst="rect">
            <a:avLst/>
          </a:prstGeom>
          <a:solidFill>
            <a:srgbClr val="112240"/>
          </a:solidFill>
          <a:ln w="19050">
            <a:solidFill>
              <a:srgbClr val="00D48B"/>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502920" y="2523744"/>
            <a:ext cx="475488" cy="475488"/>
          </a:xfrm>
          <a:prstGeom prst="ellipse">
            <a:avLst/>
          </a:prstGeom>
          <a:solidFill>
            <a:srgbClr val="00D48B"/>
          </a:solidFill>
          <a:ln w="12700">
            <a:solidFill>
              <a:srgbClr val="00D48B"/>
            </a:solidFill>
            <a:prstDash val="solid"/>
          </a:ln>
        </p:spPr>
        <p:txBody>
          <a:bodyPr/>
          <a:lstStyle/>
          <a:p>
            <a:endParaRPr lang="en-US"/>
          </a:p>
        </p:txBody>
      </p:sp>
      <p:sp>
        <p:nvSpPr>
          <p:cNvPr id="16" name="Text 14"/>
          <p:cNvSpPr/>
          <p:nvPr/>
        </p:nvSpPr>
        <p:spPr>
          <a:xfrm>
            <a:off x="502920" y="2523744"/>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3</a:t>
            </a:r>
            <a:endParaRPr lang="en-US" sz="1600"/>
          </a:p>
        </p:txBody>
      </p:sp>
      <p:sp>
        <p:nvSpPr>
          <p:cNvPr id="17" name="Text 15"/>
          <p:cNvSpPr/>
          <p:nvPr/>
        </p:nvSpPr>
        <p:spPr>
          <a:xfrm>
            <a:off x="1078992" y="2359152"/>
            <a:ext cx="3246120" cy="347472"/>
          </a:xfrm>
          <a:prstGeom prst="rect">
            <a:avLst/>
          </a:prstGeom>
          <a:noFill/>
          <a:ln/>
        </p:spPr>
        <p:txBody>
          <a:bodyPr wrap="square" lIns="0" tIns="0" rIns="0" bIns="0" rtlCol="0" anchor="ctr"/>
          <a:lstStyle/>
          <a:p>
            <a:pPr marL="0" indent="0">
              <a:buNone/>
            </a:pPr>
            <a:r>
              <a:rPr lang="en-US" sz="1250" b="1">
                <a:solidFill>
                  <a:srgbClr val="FFFFFF"/>
                </a:solidFill>
              </a:rPr>
              <a:t>Map PTEs to user space</a:t>
            </a:r>
            <a:endParaRPr lang="en-US" sz="1250"/>
          </a:p>
        </p:txBody>
      </p:sp>
      <p:sp>
        <p:nvSpPr>
          <p:cNvPr id="18" name="Text 16"/>
          <p:cNvSpPr/>
          <p:nvPr/>
        </p:nvSpPr>
        <p:spPr>
          <a:xfrm>
            <a:off x="1078992" y="2724912"/>
            <a:ext cx="3246120" cy="658368"/>
          </a:xfrm>
          <a:prstGeom prst="rect">
            <a:avLst/>
          </a:prstGeom>
          <a:noFill/>
          <a:ln/>
        </p:spPr>
        <p:txBody>
          <a:bodyPr wrap="square" lIns="0" tIns="0" rIns="0" bIns="0" rtlCol="0" anchor="t"/>
          <a:lstStyle/>
          <a:p>
            <a:pPr marL="285750" indent="-285750">
              <a:buFont typeface="Arial"/>
              <a:buChar char="•"/>
            </a:pPr>
            <a:r>
              <a:rPr lang="en-US" sz="950">
                <a:solidFill>
                  <a:srgbClr val="A8C0E8"/>
                </a:solidFill>
                <a:ea typeface="+mn-lt"/>
                <a:cs typeface="+mn-lt"/>
              </a:rPr>
              <a:t>Map PTEs for </a:t>
            </a:r>
            <a:r>
              <a:rPr lang="en-US" sz="950" err="1">
                <a:solidFill>
                  <a:srgbClr val="A8C0E8"/>
                </a:solidFill>
                <a:latin typeface="Consolas"/>
              </a:rPr>
              <a:t>all_function</a:t>
            </a:r>
            <a:r>
              <a:rPr lang="en-US" sz="950">
                <a:solidFill>
                  <a:srgbClr val="A8C0E8"/>
                </a:solidFill>
                <a:ea typeface="+mn-lt"/>
                <a:cs typeface="+mn-lt"/>
              </a:rPr>
              <a:t> and </a:t>
            </a:r>
            <a:r>
              <a:rPr lang="en-US" sz="950" err="1">
                <a:solidFill>
                  <a:srgbClr val="A8C0E8"/>
                </a:solidFill>
                <a:latin typeface="Consolas"/>
              </a:rPr>
              <a:t>secret_function</a:t>
            </a:r>
            <a:r>
              <a:rPr lang="en-US" sz="950">
                <a:solidFill>
                  <a:srgbClr val="A8C0E8"/>
                </a:solidFill>
                <a:ea typeface="+mn-lt"/>
                <a:cs typeface="+mn-lt"/>
              </a:rPr>
              <a:t> </a:t>
            </a:r>
            <a:endParaRPr lang="en-US">
              <a:ea typeface="+mn-lt"/>
              <a:cs typeface="+mn-lt"/>
            </a:endParaRPr>
          </a:p>
          <a:p>
            <a:pPr marL="285750" indent="-285750">
              <a:buFont typeface="Arial"/>
              <a:buChar char="•"/>
            </a:pPr>
            <a:r>
              <a:rPr lang="en-US" sz="950">
                <a:solidFill>
                  <a:srgbClr val="A8C0E8"/>
                </a:solidFill>
                <a:ea typeface="+mn-lt"/>
                <a:cs typeface="+mn-lt"/>
              </a:rPr>
              <a:t>Clear accessed (A) bits in both pages </a:t>
            </a:r>
            <a:endParaRPr lang="en-US"/>
          </a:p>
          <a:p>
            <a:pPr marL="285750" indent="-285750">
              <a:buFont typeface="Arial"/>
              <a:buChar char="•"/>
            </a:pPr>
            <a:r>
              <a:rPr lang="en-US" sz="950">
                <a:solidFill>
                  <a:srgbClr val="A8C0E8"/>
                </a:solidFill>
                <a:ea typeface="+mn-lt"/>
                <a:cs typeface="+mn-lt"/>
              </a:rPr>
              <a:t>Enables attacker to </a:t>
            </a:r>
            <a:r>
              <a:rPr lang="en-US" sz="950" b="1">
                <a:solidFill>
                  <a:srgbClr val="A8C0E8"/>
                </a:solidFill>
                <a:ea typeface="+mn-lt"/>
                <a:cs typeface="+mn-lt"/>
              </a:rPr>
              <a:t>monitor page accesses via A-bit changes</a:t>
            </a:r>
            <a:endParaRPr lang="en-US"/>
          </a:p>
          <a:p>
            <a:pPr marL="0" indent="0">
              <a:buNone/>
            </a:pPr>
            <a:endParaRPr lang="en-US" sz="950">
              <a:solidFill>
                <a:srgbClr val="A8C0E8"/>
              </a:solidFill>
              <a:ea typeface="Calibri"/>
              <a:cs typeface="Calibri"/>
            </a:endParaRPr>
          </a:p>
        </p:txBody>
      </p:sp>
      <p:sp>
        <p:nvSpPr>
          <p:cNvPr id="19" name="Shape 17"/>
          <p:cNvSpPr/>
          <p:nvPr/>
        </p:nvSpPr>
        <p:spPr>
          <a:xfrm>
            <a:off x="4709160" y="2267712"/>
            <a:ext cx="4069080" cy="1207008"/>
          </a:xfrm>
          <a:prstGeom prst="rect">
            <a:avLst/>
          </a:prstGeom>
          <a:solidFill>
            <a:srgbClr val="112240"/>
          </a:solidFill>
          <a:ln w="19050">
            <a:solidFill>
              <a:srgbClr val="E08A00"/>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4846320" y="2523744"/>
            <a:ext cx="475488" cy="475488"/>
          </a:xfrm>
          <a:prstGeom prst="ellipse">
            <a:avLst/>
          </a:prstGeom>
          <a:solidFill>
            <a:srgbClr val="E08A00"/>
          </a:solidFill>
          <a:ln w="12700">
            <a:solidFill>
              <a:srgbClr val="E08A00"/>
            </a:solidFill>
            <a:prstDash val="solid"/>
          </a:ln>
        </p:spPr>
        <p:txBody>
          <a:bodyPr/>
          <a:lstStyle/>
          <a:p>
            <a:endParaRPr lang="en-US"/>
          </a:p>
        </p:txBody>
      </p:sp>
      <p:sp>
        <p:nvSpPr>
          <p:cNvPr id="21" name="Text 19"/>
          <p:cNvSpPr/>
          <p:nvPr/>
        </p:nvSpPr>
        <p:spPr>
          <a:xfrm>
            <a:off x="4846320" y="2523744"/>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4</a:t>
            </a:r>
            <a:endParaRPr lang="en-US" sz="1600"/>
          </a:p>
        </p:txBody>
      </p:sp>
      <p:sp>
        <p:nvSpPr>
          <p:cNvPr id="22" name="Text 20"/>
          <p:cNvSpPr/>
          <p:nvPr/>
        </p:nvSpPr>
        <p:spPr>
          <a:xfrm>
            <a:off x="5422392" y="2359152"/>
            <a:ext cx="3246120" cy="347472"/>
          </a:xfrm>
          <a:prstGeom prst="rect">
            <a:avLst/>
          </a:prstGeom>
          <a:noFill/>
          <a:ln/>
        </p:spPr>
        <p:txBody>
          <a:bodyPr wrap="square" lIns="0" tIns="0" rIns="0" bIns="0" rtlCol="0" anchor="ctr"/>
          <a:lstStyle/>
          <a:p>
            <a:r>
              <a:rPr lang="en-US" sz="1250" b="1">
                <a:solidFill>
                  <a:srgbClr val="FFFFFF"/>
                </a:solidFill>
                <a:ea typeface="+mn-lt"/>
                <a:cs typeface="+mn-lt"/>
              </a:rPr>
              <a:t>Setup interrupt-based single stepping</a:t>
            </a:r>
            <a:endParaRPr lang="en-US" b="1">
              <a:ea typeface="Calibri"/>
              <a:cs typeface="Calibri"/>
            </a:endParaRPr>
          </a:p>
        </p:txBody>
      </p:sp>
      <p:sp>
        <p:nvSpPr>
          <p:cNvPr id="23" name="Text 21"/>
          <p:cNvSpPr/>
          <p:nvPr/>
        </p:nvSpPr>
        <p:spPr>
          <a:xfrm>
            <a:off x="5422392" y="2724912"/>
            <a:ext cx="3246120" cy="658368"/>
          </a:xfrm>
          <a:prstGeom prst="rect">
            <a:avLst/>
          </a:prstGeom>
          <a:noFill/>
          <a:ln/>
        </p:spPr>
        <p:txBody>
          <a:bodyPr wrap="square" lIns="0" tIns="0" rIns="0" bIns="0" rtlCol="0" anchor="t"/>
          <a:lstStyle/>
          <a:p>
            <a:pPr marL="285750" indent="-285750">
              <a:buFont typeface="Arial"/>
              <a:buChar char="•"/>
            </a:pPr>
            <a:r>
              <a:rPr lang="en-US" sz="950">
                <a:solidFill>
                  <a:srgbClr val="A8C0E8"/>
                </a:solidFill>
                <a:ea typeface="+mn-lt"/>
                <a:cs typeface="+mn-lt"/>
              </a:rPr>
              <a:t>Register AEP callback (attack logic) </a:t>
            </a:r>
            <a:endParaRPr lang="en-US"/>
          </a:p>
          <a:p>
            <a:pPr marL="285750" indent="-285750">
              <a:buFont typeface="Arial"/>
              <a:buChar char="•"/>
            </a:pPr>
            <a:r>
              <a:rPr lang="en-US" sz="950">
                <a:solidFill>
                  <a:srgbClr val="A8C0E8"/>
                </a:solidFill>
                <a:ea typeface="+mn-lt"/>
                <a:cs typeface="+mn-lt"/>
              </a:rPr>
              <a:t>Configure APIC one-shot timer </a:t>
            </a:r>
            <a:endParaRPr lang="en-US"/>
          </a:p>
          <a:p>
            <a:pPr marL="285750" indent="-285750">
              <a:buFont typeface="Arial"/>
              <a:buChar char="•"/>
            </a:pPr>
            <a:r>
              <a:rPr lang="en-US" sz="950">
                <a:solidFill>
                  <a:srgbClr val="A8C0E8"/>
                </a:solidFill>
                <a:ea typeface="+mn-lt"/>
                <a:cs typeface="+mn-lt"/>
              </a:rPr>
              <a:t>Enables </a:t>
            </a:r>
            <a:r>
              <a:rPr lang="en-US" sz="950" b="1">
                <a:solidFill>
                  <a:srgbClr val="A8C0E8"/>
                </a:solidFill>
                <a:ea typeface="+mn-lt"/>
                <a:cs typeface="+mn-lt"/>
              </a:rPr>
              <a:t>interrupt after every instruction</a:t>
            </a:r>
            <a:endParaRPr lang="en-US"/>
          </a:p>
          <a:p>
            <a:pPr marL="0" indent="0">
              <a:buNone/>
            </a:pPr>
            <a:endParaRPr lang="en-US" sz="950">
              <a:solidFill>
                <a:srgbClr val="A8C0E8"/>
              </a:solidFill>
              <a:ea typeface="Calibri"/>
              <a:cs typeface="Calibri"/>
            </a:endParaRPr>
          </a:p>
        </p:txBody>
      </p:sp>
      <p:sp>
        <p:nvSpPr>
          <p:cNvPr id="24" name="Shape 22"/>
          <p:cNvSpPr/>
          <p:nvPr/>
        </p:nvSpPr>
        <p:spPr>
          <a:xfrm>
            <a:off x="365760" y="3621024"/>
            <a:ext cx="4069080" cy="1207008"/>
          </a:xfrm>
          <a:prstGeom prst="rect">
            <a:avLst/>
          </a:prstGeom>
          <a:solidFill>
            <a:srgbClr val="112240"/>
          </a:solidFill>
          <a:ln w="19050">
            <a:solidFill>
              <a:srgbClr val="FF4D6D"/>
            </a:solidFill>
            <a:prstDash val="solid"/>
          </a:ln>
          <a:effectLst>
            <a:outerShdw blurRad="101600" dist="38100" dir="8100000" algn="bl" rotWithShape="0">
              <a:srgbClr val="000000">
                <a:alpha val="18000"/>
              </a:srgbClr>
            </a:outerShdw>
          </a:effectLst>
        </p:spPr>
        <p:txBody>
          <a:bodyPr/>
          <a:lstStyle/>
          <a:p>
            <a:endParaRPr lang="en-US"/>
          </a:p>
        </p:txBody>
      </p:sp>
      <p:sp>
        <p:nvSpPr>
          <p:cNvPr id="25" name="Shape 23"/>
          <p:cNvSpPr/>
          <p:nvPr/>
        </p:nvSpPr>
        <p:spPr>
          <a:xfrm>
            <a:off x="502920" y="3877056"/>
            <a:ext cx="475488" cy="475488"/>
          </a:xfrm>
          <a:prstGeom prst="ellipse">
            <a:avLst/>
          </a:prstGeom>
          <a:solidFill>
            <a:srgbClr val="FF4D6D"/>
          </a:solidFill>
          <a:ln w="12700">
            <a:solidFill>
              <a:srgbClr val="FF4D6D"/>
            </a:solidFill>
            <a:prstDash val="solid"/>
          </a:ln>
        </p:spPr>
        <p:txBody>
          <a:bodyPr/>
          <a:lstStyle/>
          <a:p>
            <a:endParaRPr lang="en-US"/>
          </a:p>
        </p:txBody>
      </p:sp>
      <p:sp>
        <p:nvSpPr>
          <p:cNvPr id="26" name="Text 24"/>
          <p:cNvSpPr/>
          <p:nvPr/>
        </p:nvSpPr>
        <p:spPr>
          <a:xfrm>
            <a:off x="502920" y="3877056"/>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5</a:t>
            </a:r>
            <a:endParaRPr lang="en-US" sz="1600"/>
          </a:p>
        </p:txBody>
      </p:sp>
      <p:sp>
        <p:nvSpPr>
          <p:cNvPr id="27" name="Text 25"/>
          <p:cNvSpPr/>
          <p:nvPr/>
        </p:nvSpPr>
        <p:spPr>
          <a:xfrm>
            <a:off x="1078992" y="3712464"/>
            <a:ext cx="3246120" cy="347472"/>
          </a:xfrm>
          <a:prstGeom prst="rect">
            <a:avLst/>
          </a:prstGeom>
          <a:noFill/>
          <a:ln/>
        </p:spPr>
        <p:txBody>
          <a:bodyPr wrap="square" lIns="0" tIns="0" rIns="0" bIns="0" rtlCol="0" anchor="ctr"/>
          <a:lstStyle/>
          <a:p>
            <a:pPr marL="0" indent="0">
              <a:buNone/>
            </a:pPr>
            <a:r>
              <a:rPr lang="en-US" sz="1250" b="1">
                <a:solidFill>
                  <a:srgbClr val="FFFFFF"/>
                </a:solidFill>
              </a:rPr>
              <a:t>Enter enclave — attack begins</a:t>
            </a:r>
            <a:endParaRPr lang="en-US" sz="1250"/>
          </a:p>
        </p:txBody>
      </p:sp>
      <p:sp>
        <p:nvSpPr>
          <p:cNvPr id="28" name="Text 26"/>
          <p:cNvSpPr/>
          <p:nvPr/>
        </p:nvSpPr>
        <p:spPr>
          <a:xfrm>
            <a:off x="1078992" y="4078224"/>
            <a:ext cx="3246120" cy="658368"/>
          </a:xfrm>
          <a:prstGeom prst="rect">
            <a:avLst/>
          </a:prstGeom>
          <a:noFill/>
          <a:ln/>
        </p:spPr>
        <p:txBody>
          <a:bodyPr wrap="square" lIns="0" tIns="0" rIns="0" bIns="0" rtlCol="0" anchor="t"/>
          <a:lstStyle/>
          <a:p>
            <a:pPr marL="285750" indent="-285750">
              <a:buFont typeface="Arial"/>
              <a:buChar char="•"/>
            </a:pPr>
            <a:r>
              <a:rPr lang="en-US" sz="950">
                <a:solidFill>
                  <a:srgbClr val="A8C0E8"/>
                </a:solidFill>
                <a:ea typeface="+mn-lt"/>
                <a:cs typeface="+mn-lt"/>
              </a:rPr>
              <a:t>APIC timer armed just before enclave entry </a:t>
            </a:r>
            <a:endParaRPr lang="en-US"/>
          </a:p>
          <a:p>
            <a:pPr marL="285750" indent="-285750">
              <a:buFont typeface="Arial"/>
              <a:buChar char="•"/>
            </a:pPr>
            <a:r>
              <a:rPr lang="en-US" sz="950" err="1">
                <a:solidFill>
                  <a:srgbClr val="A8C0E8"/>
                </a:solidFill>
                <a:latin typeface="Consolas"/>
              </a:rPr>
              <a:t>ecall_process_bits</a:t>
            </a:r>
            <a:r>
              <a:rPr lang="en-US" sz="950">
                <a:solidFill>
                  <a:srgbClr val="A8C0E8"/>
                </a:solidFill>
                <a:latin typeface="Consolas"/>
              </a:rPr>
              <a:t>()</a:t>
            </a:r>
            <a:r>
              <a:rPr lang="en-US" sz="950">
                <a:solidFill>
                  <a:srgbClr val="A8C0E8"/>
                </a:solidFill>
                <a:ea typeface="+mn-lt"/>
                <a:cs typeface="+mn-lt"/>
              </a:rPr>
              <a:t> starts execution </a:t>
            </a:r>
            <a:endParaRPr lang="en-US"/>
          </a:p>
          <a:p>
            <a:pPr marL="285750" indent="-285750">
              <a:buFont typeface="Arial"/>
              <a:buChar char="•"/>
            </a:pPr>
            <a:r>
              <a:rPr lang="en-US" sz="950">
                <a:solidFill>
                  <a:srgbClr val="A8C0E8"/>
                </a:solidFill>
                <a:ea typeface="+mn-lt"/>
                <a:cs typeface="+mn-lt"/>
              </a:rPr>
              <a:t>Execution is repeatedly interrupted by AEP </a:t>
            </a:r>
            <a:endParaRPr lang="en-US"/>
          </a:p>
          <a:p>
            <a:pPr marL="285750" indent="-285750">
              <a:buFont typeface="Arial"/>
              <a:buChar char="•"/>
            </a:pPr>
            <a:r>
              <a:rPr lang="en-US" sz="950">
                <a:solidFill>
                  <a:srgbClr val="A8C0E8"/>
                </a:solidFill>
                <a:ea typeface="+mn-lt"/>
                <a:cs typeface="+mn-lt"/>
              </a:rPr>
              <a:t>Each interrupt exposes </a:t>
            </a:r>
            <a:r>
              <a:rPr lang="en-US" sz="950" b="1">
                <a:solidFill>
                  <a:srgbClr val="A8C0E8"/>
                </a:solidFill>
                <a:ea typeface="+mn-lt"/>
                <a:cs typeface="+mn-lt"/>
              </a:rPr>
              <a:t>page access behavior</a:t>
            </a:r>
            <a:endParaRPr lang="en-US"/>
          </a:p>
          <a:p>
            <a:pPr marL="0" indent="0">
              <a:buNone/>
            </a:pPr>
            <a:endParaRPr lang="en-US" sz="950">
              <a:solidFill>
                <a:srgbClr val="A8C0E8"/>
              </a:solidFill>
              <a:ea typeface="Calibri"/>
              <a:cs typeface="Calibri"/>
            </a:endParaRPr>
          </a:p>
        </p:txBody>
      </p:sp>
      <p:sp>
        <p:nvSpPr>
          <p:cNvPr id="29" name="Shape 27"/>
          <p:cNvSpPr/>
          <p:nvPr/>
        </p:nvSpPr>
        <p:spPr>
          <a:xfrm>
            <a:off x="4709160" y="3621024"/>
            <a:ext cx="4069080" cy="1207008"/>
          </a:xfrm>
          <a:prstGeom prst="rect">
            <a:avLst/>
          </a:prstGeom>
          <a:solidFill>
            <a:srgbClr val="112240"/>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30" name="Shape 28"/>
          <p:cNvSpPr/>
          <p:nvPr/>
        </p:nvSpPr>
        <p:spPr>
          <a:xfrm>
            <a:off x="4846320" y="3877056"/>
            <a:ext cx="475488" cy="475488"/>
          </a:xfrm>
          <a:prstGeom prst="ellipse">
            <a:avLst/>
          </a:prstGeom>
          <a:solidFill>
            <a:srgbClr val="00C8FF"/>
          </a:solidFill>
          <a:ln w="12700">
            <a:solidFill>
              <a:srgbClr val="00C8FF"/>
            </a:solidFill>
            <a:prstDash val="solid"/>
          </a:ln>
        </p:spPr>
        <p:txBody>
          <a:bodyPr/>
          <a:lstStyle/>
          <a:p>
            <a:endParaRPr lang="en-US"/>
          </a:p>
        </p:txBody>
      </p:sp>
      <p:sp>
        <p:nvSpPr>
          <p:cNvPr id="31" name="Text 29"/>
          <p:cNvSpPr/>
          <p:nvPr/>
        </p:nvSpPr>
        <p:spPr>
          <a:xfrm>
            <a:off x="4846320" y="3877056"/>
            <a:ext cx="475488" cy="475488"/>
          </a:xfrm>
          <a:prstGeom prst="rect">
            <a:avLst/>
          </a:prstGeom>
          <a:noFill/>
          <a:ln/>
        </p:spPr>
        <p:txBody>
          <a:bodyPr wrap="square" lIns="0" tIns="0" rIns="0" bIns="0" rtlCol="0" anchor="ctr"/>
          <a:lstStyle/>
          <a:p>
            <a:pPr marL="0" indent="0" algn="ctr">
              <a:buNone/>
            </a:pPr>
            <a:r>
              <a:rPr lang="en-US" sz="1600" b="1">
                <a:solidFill>
                  <a:srgbClr val="0A1628"/>
                </a:solidFill>
              </a:rPr>
              <a:t>6</a:t>
            </a:r>
            <a:endParaRPr lang="en-US" sz="1600"/>
          </a:p>
        </p:txBody>
      </p:sp>
      <p:sp>
        <p:nvSpPr>
          <p:cNvPr id="32" name="Text 30"/>
          <p:cNvSpPr/>
          <p:nvPr/>
        </p:nvSpPr>
        <p:spPr>
          <a:xfrm>
            <a:off x="5422392" y="3712464"/>
            <a:ext cx="3246120" cy="347472"/>
          </a:xfrm>
          <a:prstGeom prst="rect">
            <a:avLst/>
          </a:prstGeom>
          <a:noFill/>
          <a:ln/>
        </p:spPr>
        <p:txBody>
          <a:bodyPr wrap="square" lIns="0" tIns="0" rIns="0" bIns="0" rtlCol="0" anchor="ctr"/>
          <a:lstStyle/>
          <a:p>
            <a:pPr marL="0" indent="0">
              <a:buNone/>
            </a:pPr>
            <a:r>
              <a:rPr lang="en-US" sz="1250" b="1">
                <a:solidFill>
                  <a:srgbClr val="FFFFFF"/>
                </a:solidFill>
              </a:rPr>
              <a:t>State machine decodes each bit</a:t>
            </a:r>
            <a:endParaRPr lang="en-US" sz="1250"/>
          </a:p>
        </p:txBody>
      </p:sp>
      <p:sp>
        <p:nvSpPr>
          <p:cNvPr id="33" name="Text 31"/>
          <p:cNvSpPr/>
          <p:nvPr/>
        </p:nvSpPr>
        <p:spPr>
          <a:xfrm>
            <a:off x="5422392" y="4078224"/>
            <a:ext cx="3246120" cy="658368"/>
          </a:xfrm>
          <a:prstGeom prst="rect">
            <a:avLst/>
          </a:prstGeom>
          <a:noFill/>
          <a:ln/>
        </p:spPr>
        <p:txBody>
          <a:bodyPr wrap="square" lIns="0" tIns="0" rIns="0" bIns="0" rtlCol="0" anchor="t"/>
          <a:lstStyle/>
          <a:p>
            <a:pPr marL="285750" indent="-285750">
              <a:buFont typeface="Arial"/>
              <a:buChar char="•"/>
            </a:pPr>
            <a:r>
              <a:rPr lang="en-US" sz="950">
                <a:solidFill>
                  <a:srgbClr val="A8C0E8"/>
                </a:solidFill>
                <a:ea typeface="+mn-lt"/>
                <a:cs typeface="+mn-lt"/>
              </a:rPr>
              <a:t>AEP callback checks accessed bits (</a:t>
            </a:r>
            <a:r>
              <a:rPr lang="en-US" sz="950" err="1">
                <a:solidFill>
                  <a:srgbClr val="A8C0E8"/>
                </a:solidFill>
                <a:latin typeface="Consolas"/>
              </a:rPr>
              <a:t>q_all</a:t>
            </a:r>
            <a:r>
              <a:rPr lang="en-US" sz="950">
                <a:solidFill>
                  <a:srgbClr val="A8C0E8"/>
                </a:solidFill>
                <a:ea typeface="+mn-lt"/>
                <a:cs typeface="+mn-lt"/>
              </a:rPr>
              <a:t>, </a:t>
            </a:r>
            <a:r>
              <a:rPr lang="en-US" sz="950" err="1">
                <a:solidFill>
                  <a:srgbClr val="A8C0E8"/>
                </a:solidFill>
                <a:latin typeface="Consolas"/>
              </a:rPr>
              <a:t>q_sec</a:t>
            </a:r>
            <a:r>
              <a:rPr lang="en-US" sz="950">
                <a:solidFill>
                  <a:srgbClr val="A8C0E8"/>
                </a:solidFill>
                <a:ea typeface="+mn-lt"/>
                <a:cs typeface="+mn-lt"/>
              </a:rPr>
              <a:t>) </a:t>
            </a:r>
            <a:endParaRPr lang="en-US"/>
          </a:p>
          <a:p>
            <a:pPr marL="285750" indent="-285750">
              <a:buFont typeface="Arial"/>
              <a:buChar char="•"/>
            </a:pPr>
            <a:r>
              <a:rPr lang="en-US" sz="950">
                <a:solidFill>
                  <a:srgbClr val="A8C0E8"/>
                </a:solidFill>
                <a:ea typeface="+mn-lt"/>
                <a:cs typeface="+mn-lt"/>
              </a:rPr>
              <a:t>Uses state variable </a:t>
            </a:r>
            <a:r>
              <a:rPr lang="en-US" sz="950">
                <a:solidFill>
                  <a:srgbClr val="A8C0E8"/>
                </a:solidFill>
                <a:latin typeface="Consolas"/>
              </a:rPr>
              <a:t>temp</a:t>
            </a:r>
            <a:r>
              <a:rPr lang="en-US" sz="950">
                <a:solidFill>
                  <a:srgbClr val="A8C0E8"/>
                </a:solidFill>
                <a:ea typeface="+mn-lt"/>
                <a:cs typeface="+mn-lt"/>
              </a:rPr>
              <a:t> to track execution flow </a:t>
            </a:r>
            <a:endParaRPr lang="en-US"/>
          </a:p>
          <a:p>
            <a:pPr marL="285750" indent="-285750">
              <a:buFont typeface="Arial"/>
              <a:buChar char="•"/>
            </a:pPr>
            <a:r>
              <a:rPr lang="en-US" sz="950">
                <a:solidFill>
                  <a:srgbClr val="A8C0E8"/>
                </a:solidFill>
                <a:ea typeface="+mn-lt"/>
                <a:cs typeface="+mn-lt"/>
              </a:rPr>
              <a:t>Access pattern determines bit value</a:t>
            </a:r>
            <a:endParaRPr lang="en-US"/>
          </a:p>
          <a:p>
            <a:pPr marL="285750" indent="-285750">
              <a:buFont typeface="Arial"/>
              <a:buChar char="•"/>
            </a:pPr>
            <a:r>
              <a:rPr lang="en-US" sz="950">
                <a:solidFill>
                  <a:srgbClr val="A8C0E8"/>
                </a:solidFill>
                <a:ea typeface="+mn-lt"/>
                <a:cs typeface="+mn-lt"/>
              </a:rPr>
              <a:t>Decoded bits stored in </a:t>
            </a:r>
            <a:r>
              <a:rPr lang="en-US" sz="950">
                <a:solidFill>
                  <a:srgbClr val="A8C0E8"/>
                </a:solidFill>
                <a:latin typeface="Consolas"/>
              </a:rPr>
              <a:t>recovered[]</a:t>
            </a:r>
            <a:endParaRPr lang="en-US">
              <a:ea typeface="Calibri" panose="020F0502020204030204"/>
              <a:cs typeface="Calibri" panose="020F0502020204030204"/>
            </a:endParaRPr>
          </a:p>
          <a:p>
            <a:pPr marL="0" indent="0">
              <a:buNone/>
            </a:pPr>
            <a:endParaRPr lang="en-US" sz="950">
              <a:solidFill>
                <a:srgbClr val="A8C0E8"/>
              </a:solidFill>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lIns="0" tIns="0" rIns="0" bIns="0" rtlCol="0" anchor="ctr"/>
          <a:lstStyle/>
          <a:p>
            <a:pPr marL="0" indent="0">
              <a:buNone/>
            </a:pPr>
            <a:r>
              <a:rPr lang="en-US" sz="2800" b="1">
                <a:solidFill>
                  <a:srgbClr val="FFFFFF"/>
                </a:solidFill>
              </a:rPr>
              <a:t>Enclave Design  (encl.c)</a:t>
            </a:r>
            <a:endParaRPr lang="en-US" sz="2800"/>
          </a:p>
        </p:txBody>
      </p:sp>
      <p:sp>
        <p:nvSpPr>
          <p:cNvPr id="3" name="Shape 1"/>
          <p:cNvSpPr/>
          <p:nvPr/>
        </p:nvSpPr>
        <p:spPr>
          <a:xfrm>
            <a:off x="457200" y="676656"/>
            <a:ext cx="8229600" cy="27432"/>
          </a:xfrm>
          <a:prstGeom prst="rect">
            <a:avLst/>
          </a:prstGeom>
          <a:solidFill>
            <a:srgbClr val="00D48B"/>
          </a:solidFill>
          <a:ln w="12700">
            <a:solidFill>
              <a:srgbClr val="00D48B"/>
            </a:solidFill>
            <a:prstDash val="solid"/>
          </a:ln>
        </p:spPr>
        <p:txBody>
          <a:bodyPr/>
          <a:lstStyle/>
          <a:p>
            <a:endParaRPr lang="en-US"/>
          </a:p>
        </p:txBody>
      </p:sp>
      <p:sp>
        <p:nvSpPr>
          <p:cNvPr id="4" name="Shape 2"/>
          <p:cNvSpPr/>
          <p:nvPr/>
        </p:nvSpPr>
        <p:spPr>
          <a:xfrm>
            <a:off x="365760" y="822960"/>
            <a:ext cx="5029200" cy="4160520"/>
          </a:xfrm>
          <a:prstGeom prst="rect">
            <a:avLst/>
          </a:prstGeom>
          <a:solidFill>
            <a:srgbClr val="0D1F35"/>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502920" y="914400"/>
            <a:ext cx="4754880" cy="182880"/>
          </a:xfrm>
          <a:prstGeom prst="rect">
            <a:avLst/>
          </a:prstGeom>
          <a:noFill/>
          <a:ln/>
        </p:spPr>
        <p:txBody>
          <a:bodyPr wrap="square" lIns="0" tIns="0" rIns="0" bIns="0" rtlCol="0" anchor="t"/>
          <a:lstStyle/>
          <a:p>
            <a:pPr marL="0" indent="0">
              <a:buNone/>
            </a:pPr>
            <a:r>
              <a:rPr lang="en-US" sz="850">
                <a:solidFill>
                  <a:srgbClr val="6A9955"/>
                </a:solidFill>
                <a:latin typeface="Consolas" pitchFamily="34" charset="0"/>
                <a:ea typeface="Consolas" pitchFamily="34" charset="-122"/>
                <a:cs typeface="Consolas" pitchFamily="34" charset="-120"/>
              </a:rPr>
              <a:t>// ── Runs ONLY when bit == 1 ──────────────────────────────────</a:t>
            </a:r>
            <a:endParaRPr lang="en-US" sz="850"/>
          </a:p>
        </p:txBody>
      </p:sp>
      <p:sp>
        <p:nvSpPr>
          <p:cNvPr id="6" name="Text 4"/>
          <p:cNvSpPr/>
          <p:nvPr/>
        </p:nvSpPr>
        <p:spPr>
          <a:xfrm>
            <a:off x="502920" y="109728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int __attribute__((noinline, aligned(4096)))</a:t>
            </a:r>
            <a:endParaRPr lang="en-US" sz="850"/>
          </a:p>
        </p:txBody>
      </p:sp>
      <p:sp>
        <p:nvSpPr>
          <p:cNvPr id="7" name="Text 5"/>
          <p:cNvSpPr/>
          <p:nvPr/>
        </p:nvSpPr>
        <p:spPr>
          <a:xfrm>
            <a:off x="502920" y="128016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secret_function(void) {</a:t>
            </a:r>
            <a:endParaRPr lang="en-US" sz="850"/>
          </a:p>
        </p:txBody>
      </p:sp>
      <p:sp>
        <p:nvSpPr>
          <p:cNvPr id="8" name="Text 6"/>
          <p:cNvSpPr/>
          <p:nvPr/>
        </p:nvSpPr>
        <p:spPr>
          <a:xfrm>
            <a:off x="502920" y="146304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volatile int x = 0;  </a:t>
            </a:r>
            <a:r>
              <a:rPr lang="en-US" sz="850" err="1">
                <a:solidFill>
                  <a:srgbClr val="A8C0E8"/>
                </a:solidFill>
                <a:latin typeface="Consolas" pitchFamily="34" charset="0"/>
                <a:ea typeface="Consolas" pitchFamily="34" charset="-122"/>
                <a:cs typeface="Consolas" pitchFamily="34" charset="-120"/>
              </a:rPr>
              <a:t>memory_barrier</a:t>
            </a:r>
            <a:r>
              <a:rPr lang="en-US" sz="850">
                <a:solidFill>
                  <a:srgbClr val="A8C0E8"/>
                </a:solidFill>
                <a:latin typeface="Consolas" pitchFamily="34" charset="0"/>
                <a:ea typeface="Consolas" pitchFamily="34" charset="-122"/>
                <a:cs typeface="Consolas" pitchFamily="34" charset="-120"/>
              </a:rPr>
              <a:t>;  return x;</a:t>
            </a:r>
            <a:endParaRPr lang="en-US" sz="850"/>
          </a:p>
        </p:txBody>
      </p:sp>
      <p:sp>
        <p:nvSpPr>
          <p:cNvPr id="9" name="Text 7"/>
          <p:cNvSpPr/>
          <p:nvPr/>
        </p:nvSpPr>
        <p:spPr>
          <a:xfrm>
            <a:off x="502920" y="164592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a:t>
            </a:r>
            <a:endParaRPr lang="en-US" sz="850"/>
          </a:p>
        </p:txBody>
      </p:sp>
      <p:sp>
        <p:nvSpPr>
          <p:cNvPr id="10" name="Text 8"/>
          <p:cNvSpPr/>
          <p:nvPr/>
        </p:nvSpPr>
        <p:spPr>
          <a:xfrm>
            <a:off x="502920" y="182880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endParaRPr lang="en-US" sz="850"/>
          </a:p>
        </p:txBody>
      </p:sp>
      <p:sp>
        <p:nvSpPr>
          <p:cNvPr id="11" name="Text 9"/>
          <p:cNvSpPr/>
          <p:nvPr/>
        </p:nvSpPr>
        <p:spPr>
          <a:xfrm>
            <a:off x="502920" y="2011680"/>
            <a:ext cx="4754880" cy="182880"/>
          </a:xfrm>
          <a:prstGeom prst="rect">
            <a:avLst/>
          </a:prstGeom>
          <a:noFill/>
          <a:ln/>
        </p:spPr>
        <p:txBody>
          <a:bodyPr wrap="square" lIns="0" tIns="0" rIns="0" bIns="0" rtlCol="0" anchor="t"/>
          <a:lstStyle/>
          <a:p>
            <a:pPr marL="0" indent="0">
              <a:buNone/>
            </a:pPr>
            <a:r>
              <a:rPr lang="en-US" sz="850">
                <a:solidFill>
                  <a:srgbClr val="6A9955"/>
                </a:solidFill>
                <a:latin typeface="Consolas" pitchFamily="34" charset="0"/>
                <a:ea typeface="Consolas" pitchFamily="34" charset="-122"/>
                <a:cs typeface="Consolas" pitchFamily="34" charset="-120"/>
              </a:rPr>
              <a:t>// ── Runs on EVERY iteration ───────────────────────────────────</a:t>
            </a:r>
            <a:endParaRPr lang="en-US" sz="850"/>
          </a:p>
        </p:txBody>
      </p:sp>
      <p:sp>
        <p:nvSpPr>
          <p:cNvPr id="12" name="Text 10"/>
          <p:cNvSpPr/>
          <p:nvPr/>
        </p:nvSpPr>
        <p:spPr>
          <a:xfrm>
            <a:off x="502920" y="219456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int __attribute__((noinline, aligned(4096)))</a:t>
            </a:r>
            <a:endParaRPr lang="en-US" sz="850"/>
          </a:p>
        </p:txBody>
      </p:sp>
      <p:sp>
        <p:nvSpPr>
          <p:cNvPr id="13" name="Text 11"/>
          <p:cNvSpPr/>
          <p:nvPr/>
        </p:nvSpPr>
        <p:spPr>
          <a:xfrm>
            <a:off x="502920" y="237744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all_function(void) {</a:t>
            </a:r>
            <a:endParaRPr lang="en-US" sz="850"/>
          </a:p>
        </p:txBody>
      </p:sp>
      <p:sp>
        <p:nvSpPr>
          <p:cNvPr id="14" name="Text 12"/>
          <p:cNvSpPr/>
          <p:nvPr/>
        </p:nvSpPr>
        <p:spPr>
          <a:xfrm>
            <a:off x="502920" y="256032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volatile int x = 0;  memory_barrier;  return x;</a:t>
            </a:r>
            <a:endParaRPr lang="en-US" sz="850"/>
          </a:p>
        </p:txBody>
      </p:sp>
      <p:sp>
        <p:nvSpPr>
          <p:cNvPr id="15" name="Text 13"/>
          <p:cNvSpPr/>
          <p:nvPr/>
        </p:nvSpPr>
        <p:spPr>
          <a:xfrm>
            <a:off x="502920" y="274320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a:t>
            </a:r>
            <a:endParaRPr lang="en-US" sz="850"/>
          </a:p>
        </p:txBody>
      </p:sp>
      <p:sp>
        <p:nvSpPr>
          <p:cNvPr id="16" name="Text 14"/>
          <p:cNvSpPr/>
          <p:nvPr/>
        </p:nvSpPr>
        <p:spPr>
          <a:xfrm>
            <a:off x="502920" y="292608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endParaRPr lang="en-US" sz="850"/>
          </a:p>
        </p:txBody>
      </p:sp>
      <p:sp>
        <p:nvSpPr>
          <p:cNvPr id="17" name="Text 15"/>
          <p:cNvSpPr/>
          <p:nvPr/>
        </p:nvSpPr>
        <p:spPr>
          <a:xfrm>
            <a:off x="502920" y="310896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void ecall_process_bits(uint8_t *bits, size_t len) {</a:t>
            </a:r>
            <a:endParaRPr lang="en-US" sz="850"/>
          </a:p>
        </p:txBody>
      </p:sp>
      <p:sp>
        <p:nvSpPr>
          <p:cNvPr id="18" name="Text 16"/>
          <p:cNvSpPr/>
          <p:nvPr/>
        </p:nvSpPr>
        <p:spPr>
          <a:xfrm>
            <a:off x="502920" y="329184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for (size_t i = 0; i &lt; len; i++) {</a:t>
            </a:r>
            <a:endParaRPr lang="en-US" sz="850"/>
          </a:p>
        </p:txBody>
      </p:sp>
      <p:sp>
        <p:nvSpPr>
          <p:cNvPr id="19" name="Text 17"/>
          <p:cNvSpPr/>
          <p:nvPr/>
        </p:nvSpPr>
        <p:spPr>
          <a:xfrm>
            <a:off x="494637" y="3474720"/>
            <a:ext cx="4754880" cy="182880"/>
          </a:xfrm>
          <a:prstGeom prst="rect">
            <a:avLst/>
          </a:prstGeom>
          <a:noFill/>
          <a:ln/>
        </p:spPr>
        <p:txBody>
          <a:bodyPr wrap="square" lIns="0" tIns="0" rIns="0" bIns="0" rtlCol="0" anchor="t"/>
          <a:lstStyle/>
          <a:p>
            <a:r>
              <a:rPr lang="en-US" sz="850">
                <a:solidFill>
                  <a:srgbClr val="A8C0E8"/>
                </a:solidFill>
                <a:latin typeface="Consolas"/>
                <a:ea typeface="Consolas" pitchFamily="34" charset="-122"/>
                <a:cs typeface="Consolas" pitchFamily="34" charset="-120"/>
              </a:rPr>
              <a:t>        </a:t>
            </a:r>
            <a:r>
              <a:rPr lang="en-US" sz="850" err="1">
                <a:solidFill>
                  <a:srgbClr val="A8C0E8"/>
                </a:solidFill>
                <a:latin typeface="Consolas"/>
                <a:ea typeface="Consolas" pitchFamily="34" charset="-122"/>
                <a:cs typeface="Consolas" pitchFamily="34" charset="-120"/>
              </a:rPr>
              <a:t>all_function</a:t>
            </a:r>
            <a:r>
              <a:rPr lang="en-US" sz="850">
                <a:solidFill>
                  <a:srgbClr val="A8C0E8"/>
                </a:solidFill>
                <a:latin typeface="Consolas"/>
                <a:ea typeface="Consolas" pitchFamily="34" charset="-122"/>
                <a:cs typeface="Consolas" pitchFamily="34" charset="-120"/>
              </a:rPr>
              <a:t>();          // always called</a:t>
            </a:r>
            <a:endParaRPr lang="en-US" sz="850">
              <a:latin typeface="Consolas"/>
            </a:endParaRPr>
          </a:p>
        </p:txBody>
      </p:sp>
      <p:sp>
        <p:nvSpPr>
          <p:cNvPr id="20" name="Text 18"/>
          <p:cNvSpPr/>
          <p:nvPr/>
        </p:nvSpPr>
        <p:spPr>
          <a:xfrm>
            <a:off x="502920" y="365760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 NOP sled (100,000 nops) */</a:t>
            </a:r>
            <a:endParaRPr lang="en-US" sz="850"/>
          </a:p>
        </p:txBody>
      </p:sp>
      <p:sp>
        <p:nvSpPr>
          <p:cNvPr id="21" name="Text 19"/>
          <p:cNvSpPr/>
          <p:nvPr/>
        </p:nvSpPr>
        <p:spPr>
          <a:xfrm>
            <a:off x="502920" y="384048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if (bits[i]) {</a:t>
            </a:r>
            <a:endParaRPr lang="en-US" sz="850"/>
          </a:p>
        </p:txBody>
      </p:sp>
      <p:sp>
        <p:nvSpPr>
          <p:cNvPr id="22" name="Text 20"/>
          <p:cNvSpPr/>
          <p:nvPr/>
        </p:nvSpPr>
        <p:spPr>
          <a:xfrm>
            <a:off x="502920" y="4023360"/>
            <a:ext cx="4754880" cy="182880"/>
          </a:xfrm>
          <a:prstGeom prst="rect">
            <a:avLst/>
          </a:prstGeom>
          <a:noFill/>
          <a:ln/>
        </p:spPr>
        <p:txBody>
          <a:bodyPr wrap="square" lIns="0" tIns="0" rIns="0" bIns="0" rtlCol="0" anchor="t"/>
          <a:lstStyle/>
          <a:p>
            <a:r>
              <a:rPr lang="en-US" sz="850">
                <a:solidFill>
                  <a:srgbClr val="A8C0E8"/>
                </a:solidFill>
                <a:latin typeface="Consolas"/>
                <a:ea typeface="Consolas" pitchFamily="34" charset="-122"/>
                <a:cs typeface="Consolas" pitchFamily="34" charset="-120"/>
              </a:rPr>
              <a:t>           </a:t>
            </a:r>
            <a:r>
              <a:rPr lang="en-US" sz="850" err="1">
                <a:solidFill>
                  <a:srgbClr val="A8C0E8"/>
                </a:solidFill>
                <a:latin typeface="Consolas"/>
                <a:ea typeface="Consolas" pitchFamily="34" charset="-122"/>
                <a:cs typeface="Consolas" pitchFamily="34" charset="-120"/>
              </a:rPr>
              <a:t>secret_function</a:t>
            </a:r>
            <a:r>
              <a:rPr lang="en-US" sz="850">
                <a:solidFill>
                  <a:srgbClr val="A8C0E8"/>
                </a:solidFill>
                <a:latin typeface="Consolas"/>
                <a:ea typeface="Consolas" pitchFamily="34" charset="-122"/>
                <a:cs typeface="Consolas" pitchFamily="34" charset="-120"/>
              </a:rPr>
              <a:t>();   // only if bit == 1</a:t>
            </a:r>
            <a:endParaRPr lang="en-US" sz="850">
              <a:latin typeface="Consolas"/>
            </a:endParaRPr>
          </a:p>
        </p:txBody>
      </p:sp>
      <p:sp>
        <p:nvSpPr>
          <p:cNvPr id="23" name="Text 21"/>
          <p:cNvSpPr/>
          <p:nvPr/>
        </p:nvSpPr>
        <p:spPr>
          <a:xfrm>
            <a:off x="502920" y="420624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endParaRPr lang="en-US" sz="850"/>
          </a:p>
        </p:txBody>
      </p:sp>
      <p:sp>
        <p:nvSpPr>
          <p:cNvPr id="24" name="Text 22"/>
          <p:cNvSpPr/>
          <p:nvPr/>
        </p:nvSpPr>
        <p:spPr>
          <a:xfrm>
            <a:off x="502920" y="438912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 NOP sled (100,000 nops) */</a:t>
            </a:r>
            <a:endParaRPr lang="en-US" sz="850"/>
          </a:p>
        </p:txBody>
      </p:sp>
      <p:sp>
        <p:nvSpPr>
          <p:cNvPr id="25" name="Text 23"/>
          <p:cNvSpPr/>
          <p:nvPr/>
        </p:nvSpPr>
        <p:spPr>
          <a:xfrm>
            <a:off x="502920" y="457200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p>
          <a:p>
            <a:pPr marL="0" indent="0">
              <a:buNone/>
            </a:pPr>
            <a:endParaRPr lang="en-US" sz="850"/>
          </a:p>
        </p:txBody>
      </p:sp>
      <p:sp>
        <p:nvSpPr>
          <p:cNvPr id="26" name="Text 24"/>
          <p:cNvSpPr/>
          <p:nvPr/>
        </p:nvSpPr>
        <p:spPr>
          <a:xfrm>
            <a:off x="502920" y="475488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a:t>
            </a:r>
            <a:endParaRPr lang="en-US" sz="850"/>
          </a:p>
        </p:txBody>
      </p:sp>
      <p:sp>
        <p:nvSpPr>
          <p:cNvPr id="27" name="Shape 25"/>
          <p:cNvSpPr/>
          <p:nvPr/>
        </p:nvSpPr>
        <p:spPr>
          <a:xfrm>
            <a:off x="5577840" y="868680"/>
            <a:ext cx="3383280" cy="914400"/>
          </a:xfrm>
          <a:prstGeom prst="rect">
            <a:avLst/>
          </a:prstGeom>
          <a:solidFill>
            <a:srgbClr val="112240"/>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28" name="Shape 26"/>
          <p:cNvSpPr/>
          <p:nvPr/>
        </p:nvSpPr>
        <p:spPr>
          <a:xfrm>
            <a:off x="5577840" y="868680"/>
            <a:ext cx="54864" cy="914400"/>
          </a:xfrm>
          <a:prstGeom prst="rect">
            <a:avLst/>
          </a:prstGeom>
          <a:solidFill>
            <a:srgbClr val="00C8FF"/>
          </a:solidFill>
          <a:ln w="12700">
            <a:solidFill>
              <a:srgbClr val="00C8FF"/>
            </a:solidFill>
            <a:prstDash val="solid"/>
          </a:ln>
        </p:spPr>
        <p:txBody>
          <a:bodyPr/>
          <a:lstStyle/>
          <a:p>
            <a:endParaRPr lang="en-US"/>
          </a:p>
        </p:txBody>
      </p:sp>
      <p:sp>
        <p:nvSpPr>
          <p:cNvPr id="29" name="Text 27"/>
          <p:cNvSpPr/>
          <p:nvPr/>
        </p:nvSpPr>
        <p:spPr>
          <a:xfrm>
            <a:off x="5687568" y="941832"/>
            <a:ext cx="3182112" cy="256032"/>
          </a:xfrm>
          <a:prstGeom prst="rect">
            <a:avLst/>
          </a:prstGeom>
          <a:noFill/>
          <a:ln/>
        </p:spPr>
        <p:txBody>
          <a:bodyPr wrap="square" lIns="0" tIns="0" rIns="0" bIns="0" rtlCol="0" anchor="ctr"/>
          <a:lstStyle/>
          <a:p>
            <a:pPr marL="0" indent="0">
              <a:buNone/>
            </a:pPr>
            <a:r>
              <a:rPr lang="en-US" sz="1200" b="1">
                <a:solidFill>
                  <a:srgbClr val="00C8FF"/>
                </a:solidFill>
                <a:latin typeface="Consolas" pitchFamily="34" charset="0"/>
                <a:ea typeface="Consolas" pitchFamily="34" charset="-122"/>
                <a:cs typeface="Consolas" pitchFamily="34" charset="-120"/>
              </a:rPr>
              <a:t>aligned(4096)</a:t>
            </a:r>
            <a:endParaRPr lang="en-US" sz="1200"/>
          </a:p>
        </p:txBody>
      </p:sp>
      <p:sp>
        <p:nvSpPr>
          <p:cNvPr id="30" name="Text 28"/>
          <p:cNvSpPr/>
          <p:nvPr/>
        </p:nvSpPr>
        <p:spPr>
          <a:xfrm>
            <a:off x="5687568" y="1216152"/>
            <a:ext cx="3182112" cy="502920"/>
          </a:xfrm>
          <a:prstGeom prst="rect">
            <a:avLst/>
          </a:prstGeom>
          <a:noFill/>
          <a:ln/>
        </p:spPr>
        <p:txBody>
          <a:bodyPr wrap="square" lIns="0" tIns="0" rIns="0" bIns="0" rtlCol="0" anchor="t"/>
          <a:lstStyle/>
          <a:p>
            <a:pPr marL="0" indent="0">
              <a:buNone/>
            </a:pPr>
            <a:r>
              <a:rPr lang="en-US" sz="1000">
                <a:solidFill>
                  <a:srgbClr val="A8C0E8"/>
                </a:solidFill>
              </a:rPr>
              <a:t>Forces each function onto its own 4 KB memory page — one PTE per function.</a:t>
            </a:r>
            <a:endParaRPr lang="en-US" sz="1000"/>
          </a:p>
        </p:txBody>
      </p:sp>
      <p:sp>
        <p:nvSpPr>
          <p:cNvPr id="31" name="Shape 29"/>
          <p:cNvSpPr/>
          <p:nvPr/>
        </p:nvSpPr>
        <p:spPr>
          <a:xfrm>
            <a:off x="5577840" y="1892808"/>
            <a:ext cx="3383280" cy="914400"/>
          </a:xfrm>
          <a:prstGeom prst="rect">
            <a:avLst/>
          </a:prstGeom>
          <a:solidFill>
            <a:srgbClr val="112240"/>
          </a:solidFill>
          <a:ln w="19050">
            <a:solidFill>
              <a:srgbClr val="00D48B"/>
            </a:solidFill>
            <a:prstDash val="solid"/>
          </a:ln>
          <a:effectLst>
            <a:outerShdw blurRad="101600" dist="38100" dir="8100000" algn="bl" rotWithShape="0">
              <a:srgbClr val="000000">
                <a:alpha val="18000"/>
              </a:srgbClr>
            </a:outerShdw>
          </a:effectLst>
        </p:spPr>
        <p:txBody>
          <a:bodyPr/>
          <a:lstStyle/>
          <a:p>
            <a:endParaRPr lang="en-US"/>
          </a:p>
        </p:txBody>
      </p:sp>
      <p:sp>
        <p:nvSpPr>
          <p:cNvPr id="32" name="Shape 30"/>
          <p:cNvSpPr/>
          <p:nvPr/>
        </p:nvSpPr>
        <p:spPr>
          <a:xfrm>
            <a:off x="5577840" y="1892808"/>
            <a:ext cx="54864" cy="914400"/>
          </a:xfrm>
          <a:prstGeom prst="rect">
            <a:avLst/>
          </a:prstGeom>
          <a:solidFill>
            <a:srgbClr val="00D48B"/>
          </a:solidFill>
          <a:ln w="12700">
            <a:solidFill>
              <a:srgbClr val="00D48B"/>
            </a:solidFill>
            <a:prstDash val="solid"/>
          </a:ln>
        </p:spPr>
        <p:txBody>
          <a:bodyPr/>
          <a:lstStyle/>
          <a:p>
            <a:endParaRPr lang="en-US"/>
          </a:p>
        </p:txBody>
      </p:sp>
      <p:sp>
        <p:nvSpPr>
          <p:cNvPr id="33" name="Text 31"/>
          <p:cNvSpPr/>
          <p:nvPr/>
        </p:nvSpPr>
        <p:spPr>
          <a:xfrm>
            <a:off x="5687568" y="1965960"/>
            <a:ext cx="3182112" cy="256032"/>
          </a:xfrm>
          <a:prstGeom prst="rect">
            <a:avLst/>
          </a:prstGeom>
          <a:noFill/>
          <a:ln/>
        </p:spPr>
        <p:txBody>
          <a:bodyPr wrap="square" lIns="0" tIns="0" rIns="0" bIns="0" rtlCol="0" anchor="ctr"/>
          <a:lstStyle/>
          <a:p>
            <a:pPr marL="0" indent="0">
              <a:buNone/>
            </a:pPr>
            <a:r>
              <a:rPr lang="en-US" sz="1200" b="1">
                <a:solidFill>
                  <a:srgbClr val="00D48B"/>
                </a:solidFill>
                <a:latin typeface="Consolas" pitchFamily="34" charset="0"/>
                <a:ea typeface="Consolas" pitchFamily="34" charset="-122"/>
                <a:cs typeface="Consolas" pitchFamily="34" charset="-120"/>
              </a:rPr>
              <a:t>noinline</a:t>
            </a:r>
            <a:endParaRPr lang="en-US" sz="1200"/>
          </a:p>
        </p:txBody>
      </p:sp>
      <p:sp>
        <p:nvSpPr>
          <p:cNvPr id="34" name="Text 32"/>
          <p:cNvSpPr/>
          <p:nvPr/>
        </p:nvSpPr>
        <p:spPr>
          <a:xfrm>
            <a:off x="5687568" y="2240280"/>
            <a:ext cx="3182112" cy="502920"/>
          </a:xfrm>
          <a:prstGeom prst="rect">
            <a:avLst/>
          </a:prstGeom>
          <a:noFill/>
          <a:ln/>
        </p:spPr>
        <p:txBody>
          <a:bodyPr wrap="square" lIns="0" tIns="0" rIns="0" bIns="0" rtlCol="0" anchor="t"/>
          <a:lstStyle/>
          <a:p>
            <a:pPr marL="0" indent="0">
              <a:buNone/>
            </a:pPr>
            <a:r>
              <a:rPr lang="en-US" sz="1000">
                <a:solidFill>
                  <a:srgbClr val="A8C0E8"/>
                </a:solidFill>
              </a:rPr>
              <a:t>Prevents compiler from inlining — preserves distinct call addresses in the binary.</a:t>
            </a:r>
            <a:endParaRPr lang="en-US" sz="1000"/>
          </a:p>
        </p:txBody>
      </p:sp>
      <p:sp>
        <p:nvSpPr>
          <p:cNvPr id="35" name="Shape 33"/>
          <p:cNvSpPr/>
          <p:nvPr/>
        </p:nvSpPr>
        <p:spPr>
          <a:xfrm>
            <a:off x="5577840" y="2916936"/>
            <a:ext cx="3383280" cy="914400"/>
          </a:xfrm>
          <a:prstGeom prst="rect">
            <a:avLst/>
          </a:prstGeom>
          <a:solidFill>
            <a:srgbClr val="112240"/>
          </a:solidFill>
          <a:ln w="19050">
            <a:solidFill>
              <a:srgbClr val="7B61FF"/>
            </a:solidFill>
            <a:prstDash val="solid"/>
          </a:ln>
          <a:effectLst>
            <a:outerShdw blurRad="101600" dist="38100" dir="8100000" algn="bl" rotWithShape="0">
              <a:srgbClr val="000000">
                <a:alpha val="18000"/>
              </a:srgbClr>
            </a:outerShdw>
          </a:effectLst>
        </p:spPr>
        <p:txBody>
          <a:bodyPr/>
          <a:lstStyle/>
          <a:p>
            <a:endParaRPr lang="en-US"/>
          </a:p>
        </p:txBody>
      </p:sp>
      <p:sp>
        <p:nvSpPr>
          <p:cNvPr id="36" name="Shape 34"/>
          <p:cNvSpPr/>
          <p:nvPr/>
        </p:nvSpPr>
        <p:spPr>
          <a:xfrm>
            <a:off x="5577840" y="2916936"/>
            <a:ext cx="54864" cy="914400"/>
          </a:xfrm>
          <a:prstGeom prst="rect">
            <a:avLst/>
          </a:prstGeom>
          <a:solidFill>
            <a:srgbClr val="7B61FF"/>
          </a:solidFill>
          <a:ln w="12700">
            <a:solidFill>
              <a:srgbClr val="7B61FF"/>
            </a:solidFill>
            <a:prstDash val="solid"/>
          </a:ln>
        </p:spPr>
        <p:txBody>
          <a:bodyPr/>
          <a:lstStyle/>
          <a:p>
            <a:endParaRPr lang="en-US"/>
          </a:p>
        </p:txBody>
      </p:sp>
      <p:sp>
        <p:nvSpPr>
          <p:cNvPr id="37" name="Text 35"/>
          <p:cNvSpPr/>
          <p:nvPr/>
        </p:nvSpPr>
        <p:spPr>
          <a:xfrm>
            <a:off x="5687568" y="2990088"/>
            <a:ext cx="3182112" cy="256032"/>
          </a:xfrm>
          <a:prstGeom prst="rect">
            <a:avLst/>
          </a:prstGeom>
          <a:noFill/>
          <a:ln/>
        </p:spPr>
        <p:txBody>
          <a:bodyPr wrap="square" lIns="0" tIns="0" rIns="0" bIns="0" rtlCol="0" anchor="ctr"/>
          <a:lstStyle/>
          <a:p>
            <a:pPr marL="0" indent="0">
              <a:buNone/>
            </a:pPr>
            <a:r>
              <a:rPr lang="en-US" sz="1200" b="1">
                <a:solidFill>
                  <a:srgbClr val="7B61FF"/>
                </a:solidFill>
                <a:latin typeface="Consolas" pitchFamily="34" charset="0"/>
                <a:ea typeface="Consolas" pitchFamily="34" charset="-122"/>
                <a:cs typeface="Consolas" pitchFamily="34" charset="-120"/>
              </a:rPr>
              <a:t>NOP Sled (5000×20)</a:t>
            </a:r>
            <a:endParaRPr lang="en-US" sz="1200"/>
          </a:p>
        </p:txBody>
      </p:sp>
      <p:sp>
        <p:nvSpPr>
          <p:cNvPr id="38" name="Text 36"/>
          <p:cNvSpPr/>
          <p:nvPr/>
        </p:nvSpPr>
        <p:spPr>
          <a:xfrm>
            <a:off x="5687568" y="3264408"/>
            <a:ext cx="3182112" cy="502920"/>
          </a:xfrm>
          <a:prstGeom prst="rect">
            <a:avLst/>
          </a:prstGeom>
          <a:noFill/>
          <a:ln/>
        </p:spPr>
        <p:txBody>
          <a:bodyPr wrap="square" lIns="0" tIns="0" rIns="0" bIns="0" rtlCol="0" anchor="t"/>
          <a:lstStyle/>
          <a:p>
            <a:pPr marL="0" indent="0">
              <a:buNone/>
            </a:pPr>
            <a:r>
              <a:rPr lang="en-US" sz="1000">
                <a:solidFill>
                  <a:srgbClr val="A8C0E8"/>
                </a:solidFill>
              </a:rPr>
              <a:t>100,000 NOPs between calls create a wide timing window for the APIC interrupt to land cleanly.</a:t>
            </a:r>
            <a:endParaRPr lang="en-US" sz="1000"/>
          </a:p>
        </p:txBody>
      </p:sp>
      <p:sp>
        <p:nvSpPr>
          <p:cNvPr id="39" name="Shape 37"/>
          <p:cNvSpPr/>
          <p:nvPr/>
        </p:nvSpPr>
        <p:spPr>
          <a:xfrm>
            <a:off x="5577840" y="3941064"/>
            <a:ext cx="3383280" cy="914400"/>
          </a:xfrm>
          <a:prstGeom prst="rect">
            <a:avLst/>
          </a:prstGeom>
          <a:solidFill>
            <a:srgbClr val="112240"/>
          </a:solidFill>
          <a:ln w="19050">
            <a:solidFill>
              <a:srgbClr val="FF4D6D"/>
            </a:solidFill>
            <a:prstDash val="solid"/>
          </a:ln>
          <a:effectLst>
            <a:outerShdw blurRad="101600" dist="38100" dir="8100000" algn="bl" rotWithShape="0">
              <a:srgbClr val="000000">
                <a:alpha val="18000"/>
              </a:srgbClr>
            </a:outerShdw>
          </a:effectLst>
        </p:spPr>
        <p:txBody>
          <a:bodyPr/>
          <a:lstStyle/>
          <a:p>
            <a:endParaRPr lang="en-US"/>
          </a:p>
        </p:txBody>
      </p:sp>
      <p:sp>
        <p:nvSpPr>
          <p:cNvPr id="40" name="Shape 38"/>
          <p:cNvSpPr/>
          <p:nvPr/>
        </p:nvSpPr>
        <p:spPr>
          <a:xfrm>
            <a:off x="5577840" y="3941064"/>
            <a:ext cx="54864" cy="914400"/>
          </a:xfrm>
          <a:prstGeom prst="rect">
            <a:avLst/>
          </a:prstGeom>
          <a:solidFill>
            <a:srgbClr val="FF4D6D"/>
          </a:solidFill>
          <a:ln w="12700">
            <a:solidFill>
              <a:srgbClr val="FF4D6D"/>
            </a:solidFill>
            <a:prstDash val="solid"/>
          </a:ln>
        </p:spPr>
        <p:txBody>
          <a:bodyPr/>
          <a:lstStyle/>
          <a:p>
            <a:endParaRPr lang="en-US"/>
          </a:p>
        </p:txBody>
      </p:sp>
      <p:sp>
        <p:nvSpPr>
          <p:cNvPr id="41" name="Text 39"/>
          <p:cNvSpPr/>
          <p:nvPr/>
        </p:nvSpPr>
        <p:spPr>
          <a:xfrm>
            <a:off x="5687568" y="4014216"/>
            <a:ext cx="3182112" cy="256032"/>
          </a:xfrm>
          <a:prstGeom prst="rect">
            <a:avLst/>
          </a:prstGeom>
          <a:noFill/>
          <a:ln/>
        </p:spPr>
        <p:txBody>
          <a:bodyPr wrap="square" lIns="0" tIns="0" rIns="0" bIns="0" rtlCol="0" anchor="ctr"/>
          <a:lstStyle/>
          <a:p>
            <a:pPr marL="0" indent="0">
              <a:buNone/>
            </a:pPr>
            <a:r>
              <a:rPr lang="en-US" sz="1200" b="1">
                <a:solidFill>
                  <a:srgbClr val="FF4D6D"/>
                </a:solidFill>
                <a:latin typeface="Consolas" pitchFamily="34" charset="0"/>
                <a:ea typeface="Consolas" pitchFamily="34" charset="-122"/>
                <a:cs typeface="Consolas" pitchFamily="34" charset="-120"/>
              </a:rPr>
              <a:t>memory_barrier</a:t>
            </a:r>
            <a:endParaRPr lang="en-US" sz="1200"/>
          </a:p>
        </p:txBody>
      </p:sp>
      <p:sp>
        <p:nvSpPr>
          <p:cNvPr id="42" name="Text 40"/>
          <p:cNvSpPr/>
          <p:nvPr/>
        </p:nvSpPr>
        <p:spPr>
          <a:xfrm>
            <a:off x="5687568" y="4288536"/>
            <a:ext cx="3182112" cy="502920"/>
          </a:xfrm>
          <a:prstGeom prst="rect">
            <a:avLst/>
          </a:prstGeom>
          <a:noFill/>
          <a:ln/>
        </p:spPr>
        <p:txBody>
          <a:bodyPr wrap="square" lIns="0" tIns="0" rIns="0" bIns="0" rtlCol="0" anchor="t"/>
          <a:lstStyle/>
          <a:p>
            <a:pPr marL="0" indent="0">
              <a:buNone/>
            </a:pPr>
            <a:r>
              <a:rPr lang="en-US" sz="1000">
                <a:solidFill>
                  <a:srgbClr val="A8C0E8"/>
                </a:solidFill>
              </a:rPr>
              <a:t>sfence + mfence + lfence — prevents CPU reordering that could confuse the PTE A-bit observation.</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857CE58-8458-6000-EE9C-209AF0A50F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3C08D0-9874-7298-9D0E-0F1358C83E52}"/>
              </a:ext>
            </a:extLst>
          </p:cNvPr>
          <p:cNvSpPr/>
          <p:nvPr/>
        </p:nvSpPr>
        <p:spPr>
          <a:xfrm>
            <a:off x="457200" y="201168"/>
            <a:ext cx="8229600" cy="457200"/>
          </a:xfrm>
          <a:prstGeom prst="rect">
            <a:avLst/>
          </a:prstGeom>
          <a:noFill/>
          <a:ln/>
        </p:spPr>
        <p:txBody>
          <a:bodyPr wrap="square" lIns="0" tIns="0" rIns="0" bIns="0" rtlCol="0" anchor="ctr"/>
          <a:lstStyle/>
          <a:p>
            <a:r>
              <a:rPr lang="en-US" sz="2800" b="1">
                <a:solidFill>
                  <a:srgbClr val="FFFFFF"/>
                </a:solidFill>
              </a:rPr>
              <a:t>AEP Callback – Core Logic</a:t>
            </a:r>
            <a:endParaRPr lang="en-US" sz="2800"/>
          </a:p>
        </p:txBody>
      </p:sp>
      <p:sp>
        <p:nvSpPr>
          <p:cNvPr id="3" name="Shape 1">
            <a:extLst>
              <a:ext uri="{FF2B5EF4-FFF2-40B4-BE49-F238E27FC236}">
                <a16:creationId xmlns:a16="http://schemas.microsoft.com/office/drawing/2014/main" id="{FCA58798-8C2A-F2D7-22DC-D7237D8FC18F}"/>
              </a:ext>
            </a:extLst>
          </p:cNvPr>
          <p:cNvSpPr/>
          <p:nvPr/>
        </p:nvSpPr>
        <p:spPr>
          <a:xfrm>
            <a:off x="457200" y="676656"/>
            <a:ext cx="8229600" cy="27432"/>
          </a:xfrm>
          <a:prstGeom prst="rect">
            <a:avLst/>
          </a:prstGeom>
          <a:solidFill>
            <a:srgbClr val="00D48B"/>
          </a:solidFill>
          <a:ln w="12700">
            <a:solidFill>
              <a:srgbClr val="00D48B"/>
            </a:solidFill>
            <a:prstDash val="solid"/>
          </a:ln>
        </p:spPr>
        <p:txBody>
          <a:bodyPr/>
          <a:lstStyle/>
          <a:p>
            <a:endParaRPr lang="en-US"/>
          </a:p>
        </p:txBody>
      </p:sp>
      <p:sp>
        <p:nvSpPr>
          <p:cNvPr id="4" name="Shape 2">
            <a:extLst>
              <a:ext uri="{FF2B5EF4-FFF2-40B4-BE49-F238E27FC236}">
                <a16:creationId xmlns:a16="http://schemas.microsoft.com/office/drawing/2014/main" id="{D75D79DB-C704-B3B5-929E-D062658F8F66}"/>
              </a:ext>
            </a:extLst>
          </p:cNvPr>
          <p:cNvSpPr/>
          <p:nvPr/>
        </p:nvSpPr>
        <p:spPr>
          <a:xfrm>
            <a:off x="384479" y="833362"/>
            <a:ext cx="5029200" cy="4160520"/>
          </a:xfrm>
          <a:prstGeom prst="rect">
            <a:avLst/>
          </a:prstGeom>
          <a:solidFill>
            <a:srgbClr val="0D1F35"/>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a:extLst>
              <a:ext uri="{FF2B5EF4-FFF2-40B4-BE49-F238E27FC236}">
                <a16:creationId xmlns:a16="http://schemas.microsoft.com/office/drawing/2014/main" id="{B060F796-26B0-A3FE-57D3-5E97D8EDABE4}"/>
              </a:ext>
            </a:extLst>
          </p:cNvPr>
          <p:cNvSpPr/>
          <p:nvPr/>
        </p:nvSpPr>
        <p:spPr>
          <a:xfrm>
            <a:off x="502920" y="914400"/>
            <a:ext cx="4754880" cy="182880"/>
          </a:xfrm>
          <a:prstGeom prst="rect">
            <a:avLst/>
          </a:prstGeom>
          <a:noFill/>
          <a:ln/>
        </p:spPr>
        <p:txBody>
          <a:bodyPr wrap="square" lIns="0" tIns="0" rIns="0" bIns="0" rtlCol="0" anchor="t"/>
          <a:lstStyle/>
          <a:p>
            <a:pPr marL="0" indent="0">
              <a:buNone/>
            </a:pPr>
            <a:endParaRPr lang="en-US" sz="850"/>
          </a:p>
        </p:txBody>
      </p:sp>
      <p:sp>
        <p:nvSpPr>
          <p:cNvPr id="6" name="Text 4">
            <a:extLst>
              <a:ext uri="{FF2B5EF4-FFF2-40B4-BE49-F238E27FC236}">
                <a16:creationId xmlns:a16="http://schemas.microsoft.com/office/drawing/2014/main" id="{7A705ED2-ADA4-40E9-2452-43E1BB52565C}"/>
              </a:ext>
            </a:extLst>
          </p:cNvPr>
          <p:cNvSpPr/>
          <p:nvPr/>
        </p:nvSpPr>
        <p:spPr>
          <a:xfrm>
            <a:off x="502920" y="1097280"/>
            <a:ext cx="4754880" cy="182880"/>
          </a:xfrm>
          <a:prstGeom prst="rect">
            <a:avLst/>
          </a:prstGeom>
          <a:noFill/>
          <a:ln/>
        </p:spPr>
        <p:txBody>
          <a:bodyPr wrap="square" lIns="0" tIns="0" rIns="0" bIns="0" rtlCol="0" anchor="t"/>
          <a:lstStyle/>
          <a:p>
            <a:pPr marL="0" indent="0">
              <a:buNone/>
            </a:pPr>
            <a:endParaRPr lang="en-US" sz="850"/>
          </a:p>
        </p:txBody>
      </p:sp>
      <p:sp>
        <p:nvSpPr>
          <p:cNvPr id="7" name="Text 5">
            <a:extLst>
              <a:ext uri="{FF2B5EF4-FFF2-40B4-BE49-F238E27FC236}">
                <a16:creationId xmlns:a16="http://schemas.microsoft.com/office/drawing/2014/main" id="{767BA90E-5F6F-3531-01C7-BA89FC9CEAA5}"/>
              </a:ext>
            </a:extLst>
          </p:cNvPr>
          <p:cNvSpPr/>
          <p:nvPr/>
        </p:nvSpPr>
        <p:spPr>
          <a:xfrm>
            <a:off x="502920" y="1280160"/>
            <a:ext cx="4754880" cy="182880"/>
          </a:xfrm>
          <a:prstGeom prst="rect">
            <a:avLst/>
          </a:prstGeom>
          <a:noFill/>
          <a:ln/>
        </p:spPr>
        <p:txBody>
          <a:bodyPr wrap="square" lIns="0" tIns="0" rIns="0" bIns="0" rtlCol="0" anchor="t"/>
          <a:lstStyle/>
          <a:p>
            <a:pPr marL="0" indent="0">
              <a:buNone/>
            </a:pPr>
            <a:endParaRPr lang="en-US" sz="850"/>
          </a:p>
        </p:txBody>
      </p:sp>
      <p:sp>
        <p:nvSpPr>
          <p:cNvPr id="8" name="Text 6">
            <a:extLst>
              <a:ext uri="{FF2B5EF4-FFF2-40B4-BE49-F238E27FC236}">
                <a16:creationId xmlns:a16="http://schemas.microsoft.com/office/drawing/2014/main" id="{1FEF6833-C90D-5C64-FC4B-1073CB2AE2EA}"/>
              </a:ext>
            </a:extLst>
          </p:cNvPr>
          <p:cNvSpPr/>
          <p:nvPr/>
        </p:nvSpPr>
        <p:spPr>
          <a:xfrm>
            <a:off x="502920" y="1463040"/>
            <a:ext cx="4754880" cy="182880"/>
          </a:xfrm>
          <a:prstGeom prst="rect">
            <a:avLst/>
          </a:prstGeom>
          <a:noFill/>
          <a:ln/>
        </p:spPr>
        <p:txBody>
          <a:bodyPr wrap="square" lIns="0" tIns="0" rIns="0" bIns="0" rtlCol="0" anchor="t"/>
          <a:lstStyle/>
          <a:p>
            <a:pPr marL="0" indent="0">
              <a:buNone/>
            </a:pPr>
            <a:endParaRPr lang="en-US" sz="850"/>
          </a:p>
        </p:txBody>
      </p:sp>
      <p:sp>
        <p:nvSpPr>
          <p:cNvPr id="9" name="Text 7">
            <a:extLst>
              <a:ext uri="{FF2B5EF4-FFF2-40B4-BE49-F238E27FC236}">
                <a16:creationId xmlns:a16="http://schemas.microsoft.com/office/drawing/2014/main" id="{736C0C28-7908-CCE0-FB77-BB0EAB63ECA7}"/>
              </a:ext>
            </a:extLst>
          </p:cNvPr>
          <p:cNvSpPr/>
          <p:nvPr/>
        </p:nvSpPr>
        <p:spPr>
          <a:xfrm>
            <a:off x="502920" y="1645920"/>
            <a:ext cx="4754880" cy="182880"/>
          </a:xfrm>
          <a:prstGeom prst="rect">
            <a:avLst/>
          </a:prstGeom>
          <a:noFill/>
          <a:ln/>
        </p:spPr>
        <p:txBody>
          <a:bodyPr wrap="square" lIns="0" tIns="0" rIns="0" bIns="0" rtlCol="0" anchor="t"/>
          <a:lstStyle/>
          <a:p>
            <a:pPr marL="0" indent="0">
              <a:buNone/>
            </a:pPr>
            <a:endParaRPr lang="en-US" sz="850"/>
          </a:p>
        </p:txBody>
      </p:sp>
      <p:sp>
        <p:nvSpPr>
          <p:cNvPr id="10" name="Text 8">
            <a:extLst>
              <a:ext uri="{FF2B5EF4-FFF2-40B4-BE49-F238E27FC236}">
                <a16:creationId xmlns:a16="http://schemas.microsoft.com/office/drawing/2014/main" id="{9606CE46-63EB-DB4F-2E50-CBC78247DC60}"/>
              </a:ext>
            </a:extLst>
          </p:cNvPr>
          <p:cNvSpPr/>
          <p:nvPr/>
        </p:nvSpPr>
        <p:spPr>
          <a:xfrm>
            <a:off x="502920" y="182880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endParaRPr lang="en-US" sz="850"/>
          </a:p>
        </p:txBody>
      </p:sp>
      <p:sp>
        <p:nvSpPr>
          <p:cNvPr id="11" name="Text 9">
            <a:extLst>
              <a:ext uri="{FF2B5EF4-FFF2-40B4-BE49-F238E27FC236}">
                <a16:creationId xmlns:a16="http://schemas.microsoft.com/office/drawing/2014/main" id="{C36F91FC-0854-92C9-6F3C-9456A2EDFCF9}"/>
              </a:ext>
            </a:extLst>
          </p:cNvPr>
          <p:cNvSpPr/>
          <p:nvPr/>
        </p:nvSpPr>
        <p:spPr>
          <a:xfrm>
            <a:off x="502920" y="2011680"/>
            <a:ext cx="4754880" cy="182880"/>
          </a:xfrm>
          <a:prstGeom prst="rect">
            <a:avLst/>
          </a:prstGeom>
          <a:noFill/>
          <a:ln/>
        </p:spPr>
        <p:txBody>
          <a:bodyPr wrap="square" lIns="0" tIns="0" rIns="0" bIns="0" rtlCol="0" anchor="t"/>
          <a:lstStyle/>
          <a:p>
            <a:pPr marL="0" indent="0">
              <a:buNone/>
            </a:pPr>
            <a:endParaRPr lang="en-US" sz="850"/>
          </a:p>
        </p:txBody>
      </p:sp>
      <p:sp>
        <p:nvSpPr>
          <p:cNvPr id="12" name="Text 10">
            <a:extLst>
              <a:ext uri="{FF2B5EF4-FFF2-40B4-BE49-F238E27FC236}">
                <a16:creationId xmlns:a16="http://schemas.microsoft.com/office/drawing/2014/main" id="{0FE9E6D0-6CA6-C140-3D75-B6A5079F29D9}"/>
              </a:ext>
            </a:extLst>
          </p:cNvPr>
          <p:cNvSpPr/>
          <p:nvPr/>
        </p:nvSpPr>
        <p:spPr>
          <a:xfrm>
            <a:off x="502920" y="2194560"/>
            <a:ext cx="4754880" cy="182880"/>
          </a:xfrm>
          <a:prstGeom prst="rect">
            <a:avLst/>
          </a:prstGeom>
          <a:noFill/>
          <a:ln/>
        </p:spPr>
        <p:txBody>
          <a:bodyPr wrap="square" lIns="0" tIns="0" rIns="0" bIns="0" rtlCol="0" anchor="t"/>
          <a:lstStyle/>
          <a:p>
            <a:pPr marL="0" indent="0">
              <a:buNone/>
            </a:pPr>
            <a:endParaRPr lang="en-US" sz="850"/>
          </a:p>
        </p:txBody>
      </p:sp>
      <p:sp>
        <p:nvSpPr>
          <p:cNvPr id="13" name="Text 11">
            <a:extLst>
              <a:ext uri="{FF2B5EF4-FFF2-40B4-BE49-F238E27FC236}">
                <a16:creationId xmlns:a16="http://schemas.microsoft.com/office/drawing/2014/main" id="{7E717EE0-E317-5667-0695-7E96C5DE5DA5}"/>
              </a:ext>
            </a:extLst>
          </p:cNvPr>
          <p:cNvSpPr/>
          <p:nvPr/>
        </p:nvSpPr>
        <p:spPr>
          <a:xfrm>
            <a:off x="502920" y="2377440"/>
            <a:ext cx="4754880" cy="182880"/>
          </a:xfrm>
          <a:prstGeom prst="rect">
            <a:avLst/>
          </a:prstGeom>
          <a:noFill/>
          <a:ln/>
        </p:spPr>
        <p:txBody>
          <a:bodyPr wrap="square" lIns="0" tIns="0" rIns="0" bIns="0" rtlCol="0" anchor="t"/>
          <a:lstStyle/>
          <a:p>
            <a:pPr marL="0" indent="0">
              <a:buNone/>
            </a:pPr>
            <a:endParaRPr lang="en-US" sz="850"/>
          </a:p>
        </p:txBody>
      </p:sp>
      <p:sp>
        <p:nvSpPr>
          <p:cNvPr id="14" name="Text 12">
            <a:extLst>
              <a:ext uri="{FF2B5EF4-FFF2-40B4-BE49-F238E27FC236}">
                <a16:creationId xmlns:a16="http://schemas.microsoft.com/office/drawing/2014/main" id="{6D131C18-F409-1ACD-7D5B-D66E749772CC}"/>
              </a:ext>
            </a:extLst>
          </p:cNvPr>
          <p:cNvSpPr/>
          <p:nvPr/>
        </p:nvSpPr>
        <p:spPr>
          <a:xfrm>
            <a:off x="502920" y="2560320"/>
            <a:ext cx="4754880" cy="182880"/>
          </a:xfrm>
          <a:prstGeom prst="rect">
            <a:avLst/>
          </a:prstGeom>
          <a:noFill/>
          <a:ln/>
        </p:spPr>
        <p:txBody>
          <a:bodyPr wrap="square" lIns="0" tIns="0" rIns="0" bIns="0" rtlCol="0" anchor="t"/>
          <a:lstStyle/>
          <a:p>
            <a:pPr marL="0" indent="0">
              <a:buNone/>
            </a:pPr>
            <a:endParaRPr lang="en-US" sz="850"/>
          </a:p>
        </p:txBody>
      </p:sp>
      <p:sp>
        <p:nvSpPr>
          <p:cNvPr id="16" name="Text 14">
            <a:extLst>
              <a:ext uri="{FF2B5EF4-FFF2-40B4-BE49-F238E27FC236}">
                <a16:creationId xmlns:a16="http://schemas.microsoft.com/office/drawing/2014/main" id="{E9A5C74B-7D2C-A547-9D94-E9117FE665A2}"/>
              </a:ext>
            </a:extLst>
          </p:cNvPr>
          <p:cNvSpPr/>
          <p:nvPr/>
        </p:nvSpPr>
        <p:spPr>
          <a:xfrm>
            <a:off x="502920" y="2926080"/>
            <a:ext cx="4754880" cy="182880"/>
          </a:xfrm>
          <a:prstGeom prst="rect">
            <a:avLst/>
          </a:prstGeom>
          <a:noFill/>
          <a:ln/>
        </p:spPr>
        <p:txBody>
          <a:bodyPr wrap="square" lIns="0" tIns="0" rIns="0" bIns="0" rtlCol="0" anchor="t"/>
          <a:lstStyle/>
          <a:p>
            <a:pPr marL="0" indent="0">
              <a:buNone/>
            </a:pPr>
            <a:r>
              <a:rPr lang="en-US" sz="850">
                <a:solidFill>
                  <a:srgbClr val="A8C0E8"/>
                </a:solidFill>
                <a:latin typeface="Consolas" pitchFamily="34" charset="0"/>
                <a:ea typeface="Consolas" pitchFamily="34" charset="-122"/>
                <a:cs typeface="Consolas" pitchFamily="34" charset="-120"/>
              </a:rPr>
              <a:t> </a:t>
            </a:r>
            <a:endParaRPr lang="en-US" sz="850"/>
          </a:p>
        </p:txBody>
      </p:sp>
      <p:sp>
        <p:nvSpPr>
          <p:cNvPr id="17" name="Text 15">
            <a:extLst>
              <a:ext uri="{FF2B5EF4-FFF2-40B4-BE49-F238E27FC236}">
                <a16:creationId xmlns:a16="http://schemas.microsoft.com/office/drawing/2014/main" id="{E74EF563-B090-88C6-1720-0E15EC19DAD7}"/>
              </a:ext>
            </a:extLst>
          </p:cNvPr>
          <p:cNvSpPr/>
          <p:nvPr/>
        </p:nvSpPr>
        <p:spPr>
          <a:xfrm>
            <a:off x="502920" y="3108960"/>
            <a:ext cx="4754880" cy="182880"/>
          </a:xfrm>
          <a:prstGeom prst="rect">
            <a:avLst/>
          </a:prstGeom>
          <a:noFill/>
          <a:ln/>
        </p:spPr>
        <p:txBody>
          <a:bodyPr wrap="square" lIns="0" tIns="0" rIns="0" bIns="0" rtlCol="0" anchor="t"/>
          <a:lstStyle/>
          <a:p>
            <a:pPr marL="0" indent="0">
              <a:buNone/>
            </a:pPr>
            <a:endParaRPr lang="en-US" sz="850"/>
          </a:p>
        </p:txBody>
      </p:sp>
      <p:sp>
        <p:nvSpPr>
          <p:cNvPr id="18" name="Text 16">
            <a:extLst>
              <a:ext uri="{FF2B5EF4-FFF2-40B4-BE49-F238E27FC236}">
                <a16:creationId xmlns:a16="http://schemas.microsoft.com/office/drawing/2014/main" id="{19277672-EA3A-529D-4496-9EA660ECE90A}"/>
              </a:ext>
            </a:extLst>
          </p:cNvPr>
          <p:cNvSpPr/>
          <p:nvPr/>
        </p:nvSpPr>
        <p:spPr>
          <a:xfrm>
            <a:off x="502920" y="3291840"/>
            <a:ext cx="4754880" cy="182880"/>
          </a:xfrm>
          <a:prstGeom prst="rect">
            <a:avLst/>
          </a:prstGeom>
          <a:noFill/>
          <a:ln/>
        </p:spPr>
        <p:txBody>
          <a:bodyPr wrap="square" lIns="0" tIns="0" rIns="0" bIns="0" rtlCol="0" anchor="t"/>
          <a:lstStyle/>
          <a:p>
            <a:pPr marL="0" indent="0">
              <a:buNone/>
            </a:pPr>
            <a:endParaRPr lang="en-US" sz="850"/>
          </a:p>
        </p:txBody>
      </p:sp>
      <p:sp>
        <p:nvSpPr>
          <p:cNvPr id="19" name="Text 17">
            <a:extLst>
              <a:ext uri="{FF2B5EF4-FFF2-40B4-BE49-F238E27FC236}">
                <a16:creationId xmlns:a16="http://schemas.microsoft.com/office/drawing/2014/main" id="{10411F49-A0AC-2DAF-A8CC-0DFA62546CBE}"/>
              </a:ext>
            </a:extLst>
          </p:cNvPr>
          <p:cNvSpPr/>
          <p:nvPr/>
        </p:nvSpPr>
        <p:spPr>
          <a:xfrm>
            <a:off x="494637" y="3474720"/>
            <a:ext cx="4754880" cy="182880"/>
          </a:xfrm>
          <a:prstGeom prst="rect">
            <a:avLst/>
          </a:prstGeom>
          <a:noFill/>
          <a:ln/>
        </p:spPr>
        <p:txBody>
          <a:bodyPr wrap="square" lIns="0" tIns="0" rIns="0" bIns="0" rtlCol="0" anchor="t"/>
          <a:lstStyle/>
          <a:p>
            <a:endParaRPr lang="en-US" sz="850">
              <a:latin typeface="Consolas"/>
            </a:endParaRPr>
          </a:p>
        </p:txBody>
      </p:sp>
      <p:sp>
        <p:nvSpPr>
          <p:cNvPr id="20" name="Text 18">
            <a:extLst>
              <a:ext uri="{FF2B5EF4-FFF2-40B4-BE49-F238E27FC236}">
                <a16:creationId xmlns:a16="http://schemas.microsoft.com/office/drawing/2014/main" id="{F69B51EC-40F8-15B8-72AB-134D0C885FE2}"/>
              </a:ext>
            </a:extLst>
          </p:cNvPr>
          <p:cNvSpPr/>
          <p:nvPr/>
        </p:nvSpPr>
        <p:spPr>
          <a:xfrm>
            <a:off x="502920" y="3657600"/>
            <a:ext cx="4754880" cy="182880"/>
          </a:xfrm>
          <a:prstGeom prst="rect">
            <a:avLst/>
          </a:prstGeom>
          <a:noFill/>
          <a:ln/>
        </p:spPr>
        <p:txBody>
          <a:bodyPr wrap="square" lIns="0" tIns="0" rIns="0" bIns="0" rtlCol="0" anchor="t"/>
          <a:lstStyle/>
          <a:p>
            <a:pPr marL="0" indent="0">
              <a:buNone/>
            </a:pPr>
            <a:endParaRPr lang="en-US" sz="850"/>
          </a:p>
        </p:txBody>
      </p:sp>
      <p:sp>
        <p:nvSpPr>
          <p:cNvPr id="21" name="Text 19">
            <a:extLst>
              <a:ext uri="{FF2B5EF4-FFF2-40B4-BE49-F238E27FC236}">
                <a16:creationId xmlns:a16="http://schemas.microsoft.com/office/drawing/2014/main" id="{9A5E5F79-1637-23B8-39F0-FCFC267AC231}"/>
              </a:ext>
            </a:extLst>
          </p:cNvPr>
          <p:cNvSpPr/>
          <p:nvPr/>
        </p:nvSpPr>
        <p:spPr>
          <a:xfrm>
            <a:off x="502920" y="3840480"/>
            <a:ext cx="4754880" cy="182880"/>
          </a:xfrm>
          <a:prstGeom prst="rect">
            <a:avLst/>
          </a:prstGeom>
          <a:noFill/>
          <a:ln/>
        </p:spPr>
        <p:txBody>
          <a:bodyPr wrap="square" lIns="0" tIns="0" rIns="0" bIns="0" rtlCol="0" anchor="t"/>
          <a:lstStyle/>
          <a:p>
            <a:pPr marL="0" indent="0">
              <a:buNone/>
            </a:pPr>
            <a:endParaRPr lang="en-US" sz="850"/>
          </a:p>
        </p:txBody>
      </p:sp>
      <p:sp>
        <p:nvSpPr>
          <p:cNvPr id="22" name="Text 20">
            <a:extLst>
              <a:ext uri="{FF2B5EF4-FFF2-40B4-BE49-F238E27FC236}">
                <a16:creationId xmlns:a16="http://schemas.microsoft.com/office/drawing/2014/main" id="{D681FB22-C45E-7C10-F4FF-77F8737C7177}"/>
              </a:ext>
            </a:extLst>
          </p:cNvPr>
          <p:cNvSpPr/>
          <p:nvPr/>
        </p:nvSpPr>
        <p:spPr>
          <a:xfrm>
            <a:off x="188181" y="1538577"/>
            <a:ext cx="4754880" cy="182880"/>
          </a:xfrm>
          <a:prstGeom prst="rect">
            <a:avLst/>
          </a:prstGeom>
          <a:noFill/>
          <a:ln/>
        </p:spPr>
        <p:txBody>
          <a:bodyPr wrap="square" lIns="0" tIns="0" rIns="0" bIns="0" rtlCol="0" anchor="t"/>
          <a:lstStyle/>
          <a:p>
            <a:endParaRPr lang="en-US" sz="850">
              <a:latin typeface="Consolas"/>
            </a:endParaRPr>
          </a:p>
        </p:txBody>
      </p:sp>
      <p:sp>
        <p:nvSpPr>
          <p:cNvPr id="23" name="Text 21">
            <a:extLst>
              <a:ext uri="{FF2B5EF4-FFF2-40B4-BE49-F238E27FC236}">
                <a16:creationId xmlns:a16="http://schemas.microsoft.com/office/drawing/2014/main" id="{29CDCD6F-0423-2836-5BF8-DDB6E8150DAD}"/>
              </a:ext>
            </a:extLst>
          </p:cNvPr>
          <p:cNvSpPr/>
          <p:nvPr/>
        </p:nvSpPr>
        <p:spPr>
          <a:xfrm>
            <a:off x="502920" y="4206240"/>
            <a:ext cx="4754880" cy="182880"/>
          </a:xfrm>
          <a:prstGeom prst="rect">
            <a:avLst/>
          </a:prstGeom>
          <a:noFill/>
          <a:ln/>
        </p:spPr>
        <p:txBody>
          <a:bodyPr wrap="square" lIns="0" tIns="0" rIns="0" bIns="0" rtlCol="0" anchor="t"/>
          <a:lstStyle/>
          <a:p>
            <a:pPr marL="0" indent="0">
              <a:buNone/>
            </a:pPr>
            <a:endParaRPr lang="en-US" sz="850"/>
          </a:p>
        </p:txBody>
      </p:sp>
      <p:sp>
        <p:nvSpPr>
          <p:cNvPr id="24" name="Text 22">
            <a:extLst>
              <a:ext uri="{FF2B5EF4-FFF2-40B4-BE49-F238E27FC236}">
                <a16:creationId xmlns:a16="http://schemas.microsoft.com/office/drawing/2014/main" id="{A48C3B7E-6506-167D-D368-958A370B8594}"/>
              </a:ext>
            </a:extLst>
          </p:cNvPr>
          <p:cNvSpPr/>
          <p:nvPr/>
        </p:nvSpPr>
        <p:spPr>
          <a:xfrm>
            <a:off x="502920" y="4389120"/>
            <a:ext cx="4754880" cy="182880"/>
          </a:xfrm>
          <a:prstGeom prst="rect">
            <a:avLst/>
          </a:prstGeom>
          <a:noFill/>
          <a:ln/>
        </p:spPr>
        <p:txBody>
          <a:bodyPr wrap="square" lIns="0" tIns="0" rIns="0" bIns="0" rtlCol="0" anchor="t"/>
          <a:lstStyle/>
          <a:p>
            <a:pPr marL="0" indent="0">
              <a:buNone/>
            </a:pPr>
            <a:endParaRPr lang="en-US" sz="850"/>
          </a:p>
        </p:txBody>
      </p:sp>
      <p:sp>
        <p:nvSpPr>
          <p:cNvPr id="25" name="Text 23">
            <a:extLst>
              <a:ext uri="{FF2B5EF4-FFF2-40B4-BE49-F238E27FC236}">
                <a16:creationId xmlns:a16="http://schemas.microsoft.com/office/drawing/2014/main" id="{9EF494C1-AA40-C8E6-334B-0BBB8F966DFD}"/>
              </a:ext>
            </a:extLst>
          </p:cNvPr>
          <p:cNvSpPr/>
          <p:nvPr/>
        </p:nvSpPr>
        <p:spPr>
          <a:xfrm>
            <a:off x="502920" y="4572000"/>
            <a:ext cx="4754880" cy="182880"/>
          </a:xfrm>
          <a:prstGeom prst="rect">
            <a:avLst/>
          </a:prstGeom>
          <a:noFill/>
          <a:ln/>
        </p:spPr>
        <p:txBody>
          <a:bodyPr wrap="square" lIns="0" tIns="0" rIns="0" bIns="0" rtlCol="0" anchor="t"/>
          <a:lstStyle/>
          <a:p>
            <a:pPr marL="0" indent="0">
              <a:buNone/>
            </a:pPr>
            <a:endParaRPr lang="en-US" sz="850"/>
          </a:p>
        </p:txBody>
      </p:sp>
      <p:sp>
        <p:nvSpPr>
          <p:cNvPr id="26" name="Text 24">
            <a:extLst>
              <a:ext uri="{FF2B5EF4-FFF2-40B4-BE49-F238E27FC236}">
                <a16:creationId xmlns:a16="http://schemas.microsoft.com/office/drawing/2014/main" id="{6B194CEF-9D69-9B74-EE67-CB8E041D40C7}"/>
              </a:ext>
            </a:extLst>
          </p:cNvPr>
          <p:cNvSpPr/>
          <p:nvPr/>
        </p:nvSpPr>
        <p:spPr>
          <a:xfrm>
            <a:off x="502920" y="879082"/>
            <a:ext cx="4754880" cy="4058678"/>
          </a:xfrm>
          <a:prstGeom prst="rect">
            <a:avLst/>
          </a:prstGeom>
          <a:noFill/>
          <a:ln/>
        </p:spPr>
        <p:txBody>
          <a:bodyPr wrap="square" lIns="0" tIns="0" rIns="0" bIns="0" rtlCol="0" anchor="t"/>
          <a:lstStyle/>
          <a:p>
            <a:r>
              <a:rPr lang="en-US" sz="1050">
                <a:solidFill>
                  <a:srgbClr val="A8C0E8"/>
                </a:solidFill>
                <a:latin typeface="Consolas" panose="020B0609020204030204" pitchFamily="49" charset="0"/>
                <a:ea typeface="+mn-lt"/>
                <a:cs typeface="Consolas" panose="020B0609020204030204" pitchFamily="49" charset="0"/>
              </a:rPr>
              <a:t>/* We track execution using page access bits:</a:t>
            </a:r>
            <a:endParaRPr lang="en-US" sz="1050">
              <a:solidFill>
                <a:srgbClr val="000000"/>
              </a:solidFill>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a:t>
            </a:r>
            <a:r>
              <a:rPr lang="en-US" sz="1050" err="1">
                <a:solidFill>
                  <a:srgbClr val="A8C0E8"/>
                </a:solidFill>
                <a:latin typeface="Consolas" panose="020B0609020204030204" pitchFamily="49" charset="0"/>
                <a:ea typeface="+mn-lt"/>
                <a:cs typeface="Consolas" panose="020B0609020204030204" pitchFamily="49" charset="0"/>
              </a:rPr>
              <a:t>q_all</a:t>
            </a:r>
            <a:r>
              <a:rPr lang="en-US" sz="1050">
                <a:solidFill>
                  <a:srgbClr val="A8C0E8"/>
                </a:solidFill>
                <a:latin typeface="Consolas" panose="020B0609020204030204" pitchFamily="49" charset="0"/>
                <a:ea typeface="+mn-lt"/>
                <a:cs typeface="Consolas" panose="020B0609020204030204" pitchFamily="49" charset="0"/>
              </a:rPr>
              <a:t>  → page containing "all" function</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q_sec → page containing "secret" function</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state variable (0: idle, 1: inside all, 2: after all) */</a:t>
            </a:r>
            <a:endParaRPr lang="en-US" sz="1050">
              <a:solidFill>
                <a:srgbClr val="A8C0E8"/>
              </a:solidFill>
              <a:latin typeface="Consolas" panose="020B0609020204030204" pitchFamily="49" charset="0"/>
              <a:ea typeface="Calibri"/>
              <a:cs typeface="Consolas" panose="020B0609020204030204" pitchFamily="49" charset="0"/>
            </a:endParaRPr>
          </a:p>
          <a:p>
            <a:endParaRPr lang="en-US" sz="1050">
              <a:solidFill>
                <a:srgbClr val="A8C0E8"/>
              </a:solidFill>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if (</a:t>
            </a:r>
            <a:r>
              <a:rPr lang="en-US" sz="1050" err="1">
                <a:solidFill>
                  <a:srgbClr val="A8C0E8"/>
                </a:solidFill>
                <a:latin typeface="Consolas" panose="020B0609020204030204" pitchFamily="49" charset="0"/>
                <a:ea typeface="+mn-lt"/>
                <a:cs typeface="Consolas" panose="020B0609020204030204" pitchFamily="49" charset="0"/>
              </a:rPr>
              <a:t>q_all.accessed</a:t>
            </a:r>
            <a:r>
              <a:rPr lang="en-US" sz="1050">
                <a:solidFill>
                  <a:srgbClr val="A8C0E8"/>
                </a:solidFill>
                <a:latin typeface="Consolas" panose="020B0609020204030204" pitchFamily="49" charset="0"/>
                <a:ea typeface="+mn-lt"/>
                <a:cs typeface="Consolas" panose="020B0609020204030204" pitchFamily="49" charset="0"/>
              </a:rPr>
              <a:t> &amp;&amp; temp == 0 &amp;&amp; !</a:t>
            </a:r>
            <a:r>
              <a:rPr lang="en-US" sz="1050" err="1">
                <a:solidFill>
                  <a:srgbClr val="A8C0E8"/>
                </a:solidFill>
                <a:latin typeface="Consolas" panose="020B0609020204030204" pitchFamily="49" charset="0"/>
                <a:ea typeface="+mn-lt"/>
                <a:cs typeface="Consolas" panose="020B0609020204030204" pitchFamily="49" charset="0"/>
              </a:rPr>
              <a:t>q_sec.accessed</a:t>
            </a:r>
            <a:r>
              <a:rPr lang="en-US" sz="1050">
                <a:solidFill>
                  <a:srgbClr val="A8C0E8"/>
                </a:solidFill>
                <a:latin typeface="Consolas" panose="020B0609020204030204" pitchFamily="49" charset="0"/>
                <a:ea typeface="+mn-lt"/>
                <a:cs typeface="Consolas" panose="020B0609020204030204" pitchFamily="49" charset="0"/>
              </a:rPr>
              <a:t>) {</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First access to 'all' → start of a new iteration</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1;</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else if (</a:t>
            </a:r>
            <a:r>
              <a:rPr lang="en-US" sz="1050" err="1">
                <a:solidFill>
                  <a:srgbClr val="A8C0E8"/>
                </a:solidFill>
                <a:latin typeface="Consolas" panose="020B0609020204030204" pitchFamily="49" charset="0"/>
                <a:ea typeface="+mn-lt"/>
                <a:cs typeface="Consolas" panose="020B0609020204030204" pitchFamily="49" charset="0"/>
              </a:rPr>
              <a:t>q_all.accessed</a:t>
            </a:r>
            <a:r>
              <a:rPr lang="en-US" sz="1050">
                <a:solidFill>
                  <a:srgbClr val="A8C0E8"/>
                </a:solidFill>
                <a:latin typeface="Consolas" panose="020B0609020204030204" pitchFamily="49" charset="0"/>
                <a:ea typeface="+mn-lt"/>
                <a:cs typeface="Consolas" panose="020B0609020204030204" pitchFamily="49" charset="0"/>
              </a:rPr>
              <a:t> &amp;&amp; temp == 1 &amp;&amp; !</a:t>
            </a:r>
            <a:r>
              <a:rPr lang="en-US" sz="1050" err="1">
                <a:solidFill>
                  <a:srgbClr val="A8C0E8"/>
                </a:solidFill>
                <a:latin typeface="Consolas" panose="020B0609020204030204" pitchFamily="49" charset="0"/>
                <a:ea typeface="+mn-lt"/>
                <a:cs typeface="Consolas" panose="020B0609020204030204" pitchFamily="49" charset="0"/>
              </a:rPr>
              <a:t>q_sec.accessed</a:t>
            </a:r>
            <a:r>
              <a:rPr lang="en-US" sz="1050">
                <a:solidFill>
                  <a:srgbClr val="A8C0E8"/>
                </a:solidFill>
                <a:latin typeface="Consolas" panose="020B0609020204030204" pitchFamily="49" charset="0"/>
                <a:ea typeface="+mn-lt"/>
                <a:cs typeface="Consolas" panose="020B0609020204030204" pitchFamily="49" charset="0"/>
              </a:rPr>
              <a:t>) {</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Still executing inside 'all' → wait for it to complete</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else if (!</a:t>
            </a:r>
            <a:r>
              <a:rPr lang="en-US" sz="1050" err="1">
                <a:solidFill>
                  <a:srgbClr val="A8C0E8"/>
                </a:solidFill>
                <a:latin typeface="Consolas" panose="020B0609020204030204" pitchFamily="49" charset="0"/>
                <a:ea typeface="+mn-lt"/>
                <a:cs typeface="Consolas" panose="020B0609020204030204" pitchFamily="49" charset="0"/>
              </a:rPr>
              <a:t>q_all.accessed</a:t>
            </a:r>
            <a:r>
              <a:rPr lang="en-US" sz="1050">
                <a:solidFill>
                  <a:srgbClr val="A8C0E8"/>
                </a:solidFill>
                <a:latin typeface="Consolas" panose="020B0609020204030204" pitchFamily="49" charset="0"/>
                <a:ea typeface="+mn-lt"/>
                <a:cs typeface="Consolas" panose="020B0609020204030204" pitchFamily="49" charset="0"/>
              </a:rPr>
              <a:t> &amp;&amp; temp == 1 &amp;&amp; !</a:t>
            </a:r>
            <a:r>
              <a:rPr lang="en-US" sz="1050" err="1">
                <a:solidFill>
                  <a:srgbClr val="A8C0E8"/>
                </a:solidFill>
                <a:latin typeface="Consolas" panose="020B0609020204030204" pitchFamily="49" charset="0"/>
                <a:ea typeface="+mn-lt"/>
                <a:cs typeface="Consolas" panose="020B0609020204030204" pitchFamily="49" charset="0"/>
              </a:rPr>
              <a:t>q_sec.accessed</a:t>
            </a:r>
            <a:r>
              <a:rPr lang="en-US" sz="1050">
                <a:solidFill>
                  <a:srgbClr val="A8C0E8"/>
                </a:solidFill>
                <a:latin typeface="Consolas" panose="020B0609020204030204" pitchFamily="49" charset="0"/>
                <a:ea typeface="+mn-lt"/>
                <a:cs typeface="Consolas" panose="020B0609020204030204" pitchFamily="49" charset="0"/>
              </a:rPr>
              <a:t>) {</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'all' has finished, now expecting possible 'secret' access</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2;</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else if (temp == 2 &amp;&amp; !</a:t>
            </a:r>
            <a:r>
              <a:rPr lang="en-US" sz="1050" err="1">
                <a:solidFill>
                  <a:srgbClr val="A8C0E8"/>
                </a:solidFill>
                <a:latin typeface="Consolas" panose="020B0609020204030204" pitchFamily="49" charset="0"/>
                <a:ea typeface="+mn-lt"/>
                <a:cs typeface="Consolas" panose="020B0609020204030204" pitchFamily="49" charset="0"/>
              </a:rPr>
              <a:t>q_all.accessed</a:t>
            </a:r>
            <a:r>
              <a:rPr lang="en-US" sz="1050">
                <a:solidFill>
                  <a:srgbClr val="A8C0E8"/>
                </a:solidFill>
                <a:latin typeface="Consolas" panose="020B0609020204030204" pitchFamily="49" charset="0"/>
                <a:ea typeface="+mn-lt"/>
                <a:cs typeface="Consolas" panose="020B0609020204030204" pitchFamily="49" charset="0"/>
              </a:rPr>
              <a:t> &amp;&amp; </a:t>
            </a:r>
            <a:r>
              <a:rPr lang="en-US" sz="1050" err="1">
                <a:solidFill>
                  <a:srgbClr val="A8C0E8"/>
                </a:solidFill>
                <a:latin typeface="Consolas" panose="020B0609020204030204" pitchFamily="49" charset="0"/>
                <a:ea typeface="+mn-lt"/>
                <a:cs typeface="Consolas" panose="020B0609020204030204" pitchFamily="49" charset="0"/>
              </a:rPr>
              <a:t>q_sec.accessed</a:t>
            </a:r>
            <a:r>
              <a:rPr lang="en-US" sz="1050">
                <a:solidFill>
                  <a:srgbClr val="A8C0E8"/>
                </a:solidFill>
                <a:latin typeface="Consolas" panose="020B0609020204030204" pitchFamily="49" charset="0"/>
                <a:ea typeface="+mn-lt"/>
                <a:cs typeface="Consolas" panose="020B0609020204030204" pitchFamily="49" charset="0"/>
              </a:rPr>
              <a:t>) {</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'secret' executed → infer secret bit = 1</a:t>
            </a:r>
            <a:endParaRPr lang="en-US" sz="1050">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0;</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else if (temp == 2 &amp;&amp; </a:t>
            </a:r>
            <a:r>
              <a:rPr lang="en-US" sz="1050" err="1">
                <a:solidFill>
                  <a:srgbClr val="A8C0E8"/>
                </a:solidFill>
                <a:latin typeface="Consolas" panose="020B0609020204030204" pitchFamily="49" charset="0"/>
                <a:ea typeface="+mn-lt"/>
                <a:cs typeface="Consolas" panose="020B0609020204030204" pitchFamily="49" charset="0"/>
              </a:rPr>
              <a:t>q_all.accessed</a:t>
            </a:r>
            <a:r>
              <a:rPr lang="en-US" sz="1050">
                <a:solidFill>
                  <a:srgbClr val="A8C0E8"/>
                </a:solidFill>
                <a:latin typeface="Consolas" panose="020B0609020204030204" pitchFamily="49" charset="0"/>
                <a:ea typeface="+mn-lt"/>
                <a:cs typeface="Consolas" panose="020B0609020204030204" pitchFamily="49" charset="0"/>
              </a:rPr>
              <a:t> &amp;&amp; !</a:t>
            </a:r>
            <a:r>
              <a:rPr lang="en-US" sz="1050" err="1">
                <a:solidFill>
                  <a:srgbClr val="A8C0E8"/>
                </a:solidFill>
                <a:latin typeface="Consolas" panose="020B0609020204030204" pitchFamily="49" charset="0"/>
                <a:ea typeface="+mn-lt"/>
                <a:cs typeface="Consolas" panose="020B0609020204030204" pitchFamily="49" charset="0"/>
              </a:rPr>
              <a:t>q_sec.accessed</a:t>
            </a:r>
            <a:r>
              <a:rPr lang="en-US" sz="1050">
                <a:solidFill>
                  <a:srgbClr val="A8C0E8"/>
                </a:solidFill>
                <a:latin typeface="Consolas" panose="020B0609020204030204" pitchFamily="49" charset="0"/>
                <a:ea typeface="+mn-lt"/>
                <a:cs typeface="Consolas" panose="020B0609020204030204" pitchFamily="49" charset="0"/>
              </a:rPr>
              <a:t>) {</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Moved to next iteration without 'secret' → bit = 0</a:t>
            </a:r>
            <a:endParaRPr lang="en-US" sz="1050">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0;</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else {</a:t>
            </a:r>
            <a:endParaRPr lang="en-US" sz="1050">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 Any unexpected pattern → reset state</a:t>
            </a:r>
            <a:endParaRPr lang="en-US" sz="1050">
              <a:latin typeface="Consolas" panose="020B0609020204030204" pitchFamily="49" charset="0"/>
              <a:ea typeface="+mn-lt"/>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    temp = 0;</a:t>
            </a:r>
            <a:endParaRPr lang="en-US" sz="1050">
              <a:latin typeface="Consolas" panose="020B0609020204030204" pitchFamily="49" charset="0"/>
              <a:ea typeface="Calibri"/>
              <a:cs typeface="Consolas" panose="020B0609020204030204" pitchFamily="49" charset="0"/>
            </a:endParaRPr>
          </a:p>
          <a:p>
            <a:r>
              <a:rPr lang="en-US" sz="1050">
                <a:solidFill>
                  <a:srgbClr val="A8C0E8"/>
                </a:solidFill>
                <a:latin typeface="Consolas" panose="020B0609020204030204" pitchFamily="49" charset="0"/>
                <a:ea typeface="+mn-lt"/>
                <a:cs typeface="Consolas" panose="020B0609020204030204" pitchFamily="49" charset="0"/>
              </a:rPr>
              <a:t>}</a:t>
            </a:r>
            <a:endParaRPr lang="en-US" sz="1050">
              <a:latin typeface="Consolas" panose="020B0609020204030204" pitchFamily="49" charset="0"/>
              <a:ea typeface="+mn-lt"/>
              <a:cs typeface="Consolas" panose="020B0609020204030204" pitchFamily="49" charset="0"/>
            </a:endParaRPr>
          </a:p>
        </p:txBody>
      </p:sp>
      <p:sp>
        <p:nvSpPr>
          <p:cNvPr id="27" name="Shape 25">
            <a:extLst>
              <a:ext uri="{FF2B5EF4-FFF2-40B4-BE49-F238E27FC236}">
                <a16:creationId xmlns:a16="http://schemas.microsoft.com/office/drawing/2014/main" id="{3D27112F-425D-B790-0391-1E19220F6528}"/>
              </a:ext>
            </a:extLst>
          </p:cNvPr>
          <p:cNvSpPr/>
          <p:nvPr/>
        </p:nvSpPr>
        <p:spPr>
          <a:xfrm>
            <a:off x="5577840" y="868680"/>
            <a:ext cx="3383280" cy="914400"/>
          </a:xfrm>
          <a:prstGeom prst="rect">
            <a:avLst/>
          </a:prstGeom>
          <a:solidFill>
            <a:srgbClr val="112240"/>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28" name="Shape 26">
            <a:extLst>
              <a:ext uri="{FF2B5EF4-FFF2-40B4-BE49-F238E27FC236}">
                <a16:creationId xmlns:a16="http://schemas.microsoft.com/office/drawing/2014/main" id="{1251B601-C6FA-4224-A1F8-40A39F661D1A}"/>
              </a:ext>
            </a:extLst>
          </p:cNvPr>
          <p:cNvSpPr/>
          <p:nvPr/>
        </p:nvSpPr>
        <p:spPr>
          <a:xfrm>
            <a:off x="5577840" y="868680"/>
            <a:ext cx="54864" cy="914400"/>
          </a:xfrm>
          <a:prstGeom prst="rect">
            <a:avLst/>
          </a:prstGeom>
          <a:solidFill>
            <a:srgbClr val="00C8FF"/>
          </a:solidFill>
          <a:ln w="12700">
            <a:solidFill>
              <a:srgbClr val="00C8FF"/>
            </a:solidFill>
            <a:prstDash val="solid"/>
          </a:ln>
        </p:spPr>
        <p:txBody>
          <a:bodyPr/>
          <a:lstStyle/>
          <a:p>
            <a:endParaRPr lang="en-US"/>
          </a:p>
        </p:txBody>
      </p:sp>
      <p:sp>
        <p:nvSpPr>
          <p:cNvPr id="29" name="Text 27">
            <a:extLst>
              <a:ext uri="{FF2B5EF4-FFF2-40B4-BE49-F238E27FC236}">
                <a16:creationId xmlns:a16="http://schemas.microsoft.com/office/drawing/2014/main" id="{90F1DCE3-5529-CFED-9B26-8FBB12F11873}"/>
              </a:ext>
            </a:extLst>
          </p:cNvPr>
          <p:cNvSpPr/>
          <p:nvPr/>
        </p:nvSpPr>
        <p:spPr>
          <a:xfrm>
            <a:off x="5687568" y="941832"/>
            <a:ext cx="3182112" cy="256032"/>
          </a:xfrm>
          <a:prstGeom prst="rect">
            <a:avLst/>
          </a:prstGeom>
          <a:noFill/>
          <a:ln/>
        </p:spPr>
        <p:txBody>
          <a:bodyPr wrap="square" lIns="0" tIns="0" rIns="0" bIns="0" rtlCol="0" anchor="ctr"/>
          <a:lstStyle/>
          <a:p>
            <a:pPr marL="0" indent="0">
              <a:buNone/>
            </a:pPr>
            <a:r>
              <a:rPr lang="en-US" sz="1200" b="1">
                <a:solidFill>
                  <a:srgbClr val="00C8FF"/>
                </a:solidFill>
                <a:latin typeface="Consolas" pitchFamily="34" charset="0"/>
                <a:ea typeface="Consolas" pitchFamily="34" charset="-122"/>
                <a:cs typeface="Consolas" pitchFamily="34" charset="-120"/>
              </a:rPr>
              <a:t>State 0 (IDLE)</a:t>
            </a:r>
            <a:endParaRPr lang="en-US" sz="1200"/>
          </a:p>
        </p:txBody>
      </p:sp>
      <p:sp>
        <p:nvSpPr>
          <p:cNvPr id="30" name="Text 28">
            <a:extLst>
              <a:ext uri="{FF2B5EF4-FFF2-40B4-BE49-F238E27FC236}">
                <a16:creationId xmlns:a16="http://schemas.microsoft.com/office/drawing/2014/main" id="{C288F0DA-D4AF-016B-676F-75D5C5684241}"/>
              </a:ext>
            </a:extLst>
          </p:cNvPr>
          <p:cNvSpPr/>
          <p:nvPr/>
        </p:nvSpPr>
        <p:spPr>
          <a:xfrm>
            <a:off x="5687568" y="1216152"/>
            <a:ext cx="3182112" cy="502920"/>
          </a:xfrm>
          <a:prstGeom prst="rect">
            <a:avLst/>
          </a:prstGeom>
          <a:noFill/>
          <a:ln/>
        </p:spPr>
        <p:txBody>
          <a:bodyPr wrap="square" lIns="0" tIns="0" rIns="0" bIns="0" rtlCol="0" anchor="t"/>
          <a:lstStyle/>
          <a:p>
            <a:r>
              <a:rPr lang="en-US" sz="1000">
                <a:solidFill>
                  <a:srgbClr val="A8C0E8"/>
                </a:solidFill>
              </a:rPr>
              <a:t>Waiting for the  all function to get accessed which will begin a new secret-bit evaluation cycle. “</a:t>
            </a:r>
            <a:r>
              <a:rPr lang="en-US" sz="1000" err="1">
                <a:solidFill>
                  <a:srgbClr val="A8C0E8"/>
                </a:solidFill>
              </a:rPr>
              <a:t>q_all.accessed</a:t>
            </a:r>
            <a:r>
              <a:rPr lang="en-US" sz="1000">
                <a:solidFill>
                  <a:srgbClr val="A8C0E8"/>
                </a:solidFill>
              </a:rPr>
              <a:t>==1” is our start of the cycle signal.</a:t>
            </a:r>
          </a:p>
          <a:p>
            <a:r>
              <a:rPr lang="en-US" sz="1000">
                <a:solidFill>
                  <a:srgbClr val="A8C0E8"/>
                </a:solidFill>
              </a:rPr>
              <a:t>  </a:t>
            </a:r>
          </a:p>
          <a:p>
            <a:r>
              <a:rPr lang="en-US" sz="1000">
                <a:solidFill>
                  <a:srgbClr val="A8C0E8"/>
                </a:solidFill>
              </a:rPr>
              <a:t> </a:t>
            </a:r>
            <a:endParaRPr lang="en-US" sz="1000"/>
          </a:p>
        </p:txBody>
      </p:sp>
      <p:sp>
        <p:nvSpPr>
          <p:cNvPr id="31" name="Shape 29">
            <a:extLst>
              <a:ext uri="{FF2B5EF4-FFF2-40B4-BE49-F238E27FC236}">
                <a16:creationId xmlns:a16="http://schemas.microsoft.com/office/drawing/2014/main" id="{47BE1F43-65E1-7A5D-3397-7D29CF9BD5DE}"/>
              </a:ext>
            </a:extLst>
          </p:cNvPr>
          <p:cNvSpPr/>
          <p:nvPr/>
        </p:nvSpPr>
        <p:spPr>
          <a:xfrm>
            <a:off x="5577840" y="1892808"/>
            <a:ext cx="3383280" cy="914400"/>
          </a:xfrm>
          <a:prstGeom prst="rect">
            <a:avLst/>
          </a:prstGeom>
          <a:solidFill>
            <a:srgbClr val="112240"/>
          </a:solidFill>
          <a:ln w="19050">
            <a:solidFill>
              <a:srgbClr val="00D48B"/>
            </a:solidFill>
            <a:prstDash val="solid"/>
          </a:ln>
          <a:effectLst>
            <a:outerShdw blurRad="101600" dist="38100" dir="8100000" algn="bl" rotWithShape="0">
              <a:srgbClr val="000000">
                <a:alpha val="18000"/>
              </a:srgbClr>
            </a:outerShdw>
          </a:effectLst>
        </p:spPr>
        <p:txBody>
          <a:bodyPr/>
          <a:lstStyle/>
          <a:p>
            <a:endParaRPr lang="en-US"/>
          </a:p>
        </p:txBody>
      </p:sp>
      <p:sp>
        <p:nvSpPr>
          <p:cNvPr id="32" name="Shape 30">
            <a:extLst>
              <a:ext uri="{FF2B5EF4-FFF2-40B4-BE49-F238E27FC236}">
                <a16:creationId xmlns:a16="http://schemas.microsoft.com/office/drawing/2014/main" id="{EC787DDF-A1AB-30A9-83BC-7E8FC0CA3114}"/>
              </a:ext>
            </a:extLst>
          </p:cNvPr>
          <p:cNvSpPr/>
          <p:nvPr/>
        </p:nvSpPr>
        <p:spPr>
          <a:xfrm>
            <a:off x="5577840" y="1892808"/>
            <a:ext cx="54864" cy="914400"/>
          </a:xfrm>
          <a:prstGeom prst="rect">
            <a:avLst/>
          </a:prstGeom>
          <a:solidFill>
            <a:srgbClr val="00D48B"/>
          </a:solidFill>
          <a:ln w="12700">
            <a:solidFill>
              <a:srgbClr val="00D48B"/>
            </a:solidFill>
            <a:prstDash val="solid"/>
          </a:ln>
        </p:spPr>
        <p:txBody>
          <a:bodyPr/>
          <a:lstStyle/>
          <a:p>
            <a:endParaRPr lang="en-US"/>
          </a:p>
        </p:txBody>
      </p:sp>
      <p:sp>
        <p:nvSpPr>
          <p:cNvPr id="33" name="Text 31">
            <a:extLst>
              <a:ext uri="{FF2B5EF4-FFF2-40B4-BE49-F238E27FC236}">
                <a16:creationId xmlns:a16="http://schemas.microsoft.com/office/drawing/2014/main" id="{16D7AFB7-BB5F-A0DC-314D-A6930F56ACB1}"/>
              </a:ext>
            </a:extLst>
          </p:cNvPr>
          <p:cNvSpPr/>
          <p:nvPr/>
        </p:nvSpPr>
        <p:spPr>
          <a:xfrm>
            <a:off x="5687568" y="1965960"/>
            <a:ext cx="3182112" cy="256032"/>
          </a:xfrm>
          <a:prstGeom prst="rect">
            <a:avLst/>
          </a:prstGeom>
          <a:noFill/>
          <a:ln/>
        </p:spPr>
        <p:txBody>
          <a:bodyPr wrap="square" lIns="0" tIns="0" rIns="0" bIns="0" rtlCol="0" anchor="ctr"/>
          <a:lstStyle/>
          <a:p>
            <a:pPr marL="0" indent="0">
              <a:buNone/>
            </a:pPr>
            <a:r>
              <a:rPr lang="en-US" sz="1200" b="1">
                <a:solidFill>
                  <a:srgbClr val="00D48B"/>
                </a:solidFill>
                <a:latin typeface="Consolas" pitchFamily="34" charset="0"/>
                <a:ea typeface="Consolas" pitchFamily="34" charset="-122"/>
                <a:cs typeface="Consolas" pitchFamily="34" charset="-120"/>
              </a:rPr>
              <a:t>State 1 (IN_ALL)</a:t>
            </a:r>
            <a:endParaRPr lang="en-US" sz="1200"/>
          </a:p>
        </p:txBody>
      </p:sp>
      <p:sp>
        <p:nvSpPr>
          <p:cNvPr id="34" name="Text 32">
            <a:extLst>
              <a:ext uri="{FF2B5EF4-FFF2-40B4-BE49-F238E27FC236}">
                <a16:creationId xmlns:a16="http://schemas.microsoft.com/office/drawing/2014/main" id="{7157FCA3-2767-C594-49AC-9A5A29EA1092}"/>
              </a:ext>
            </a:extLst>
          </p:cNvPr>
          <p:cNvSpPr/>
          <p:nvPr/>
        </p:nvSpPr>
        <p:spPr>
          <a:xfrm>
            <a:off x="5687568" y="2240280"/>
            <a:ext cx="3182112" cy="502920"/>
          </a:xfrm>
          <a:prstGeom prst="rect">
            <a:avLst/>
          </a:prstGeom>
          <a:noFill/>
          <a:ln/>
        </p:spPr>
        <p:txBody>
          <a:bodyPr wrap="square" lIns="0" tIns="0" rIns="0" bIns="0" rtlCol="0" anchor="t"/>
          <a:lstStyle/>
          <a:p>
            <a:r>
              <a:rPr lang="en-US" sz="1000">
                <a:solidFill>
                  <a:srgbClr val="A8C0E8"/>
                </a:solidFill>
              </a:rPr>
              <a:t>The enclave is still executing on the all-page (</a:t>
            </a:r>
            <a:r>
              <a:rPr lang="en-US" sz="1000" err="1">
                <a:solidFill>
                  <a:srgbClr val="A8C0E8"/>
                </a:solidFill>
              </a:rPr>
              <a:t>q_all</a:t>
            </a:r>
            <a:r>
              <a:rPr lang="en-US" sz="1000">
                <a:solidFill>
                  <a:srgbClr val="A8C0E8"/>
                </a:solidFill>
              </a:rPr>
              <a:t> keeps getting hit). Thus this is the state inside </a:t>
            </a:r>
            <a:r>
              <a:rPr lang="en-US" sz="1000" err="1">
                <a:solidFill>
                  <a:srgbClr val="A8C0E8"/>
                </a:solidFill>
              </a:rPr>
              <a:t>all_function</a:t>
            </a:r>
            <a:endParaRPr lang="en-US" sz="1000">
              <a:solidFill>
                <a:srgbClr val="A8C0E8"/>
              </a:solidFill>
            </a:endParaRPr>
          </a:p>
        </p:txBody>
      </p:sp>
      <p:sp>
        <p:nvSpPr>
          <p:cNvPr id="35" name="Shape 33">
            <a:extLst>
              <a:ext uri="{FF2B5EF4-FFF2-40B4-BE49-F238E27FC236}">
                <a16:creationId xmlns:a16="http://schemas.microsoft.com/office/drawing/2014/main" id="{69A47A34-4EDA-237B-002E-0DE451D91AB5}"/>
              </a:ext>
            </a:extLst>
          </p:cNvPr>
          <p:cNvSpPr/>
          <p:nvPr/>
        </p:nvSpPr>
        <p:spPr>
          <a:xfrm>
            <a:off x="5577840" y="2916936"/>
            <a:ext cx="3383280" cy="914400"/>
          </a:xfrm>
          <a:prstGeom prst="rect">
            <a:avLst/>
          </a:prstGeom>
          <a:solidFill>
            <a:srgbClr val="112240"/>
          </a:solidFill>
          <a:ln w="19050">
            <a:solidFill>
              <a:srgbClr val="7B61FF"/>
            </a:solidFill>
            <a:prstDash val="solid"/>
          </a:ln>
          <a:effectLst>
            <a:outerShdw blurRad="101600" dist="38100" dir="8100000" algn="bl" rotWithShape="0">
              <a:srgbClr val="000000">
                <a:alpha val="18000"/>
              </a:srgbClr>
            </a:outerShdw>
          </a:effectLst>
        </p:spPr>
        <p:txBody>
          <a:bodyPr/>
          <a:lstStyle/>
          <a:p>
            <a:endParaRPr lang="en-US"/>
          </a:p>
        </p:txBody>
      </p:sp>
      <p:sp>
        <p:nvSpPr>
          <p:cNvPr id="36" name="Shape 34">
            <a:extLst>
              <a:ext uri="{FF2B5EF4-FFF2-40B4-BE49-F238E27FC236}">
                <a16:creationId xmlns:a16="http://schemas.microsoft.com/office/drawing/2014/main" id="{31E5983A-88AD-01AA-31F0-6E02288E2FAD}"/>
              </a:ext>
            </a:extLst>
          </p:cNvPr>
          <p:cNvSpPr/>
          <p:nvPr/>
        </p:nvSpPr>
        <p:spPr>
          <a:xfrm>
            <a:off x="5577840" y="2916936"/>
            <a:ext cx="54864" cy="914400"/>
          </a:xfrm>
          <a:prstGeom prst="rect">
            <a:avLst/>
          </a:prstGeom>
          <a:solidFill>
            <a:srgbClr val="7B61FF"/>
          </a:solidFill>
          <a:ln w="12700">
            <a:solidFill>
              <a:srgbClr val="7B61FF"/>
            </a:solidFill>
            <a:prstDash val="solid"/>
          </a:ln>
        </p:spPr>
        <p:txBody>
          <a:bodyPr/>
          <a:lstStyle/>
          <a:p>
            <a:endParaRPr lang="en-US"/>
          </a:p>
        </p:txBody>
      </p:sp>
      <p:sp>
        <p:nvSpPr>
          <p:cNvPr id="37" name="Text 35">
            <a:extLst>
              <a:ext uri="{FF2B5EF4-FFF2-40B4-BE49-F238E27FC236}">
                <a16:creationId xmlns:a16="http://schemas.microsoft.com/office/drawing/2014/main" id="{A91AD452-33F8-9ABA-7681-585FB9BA1806}"/>
              </a:ext>
            </a:extLst>
          </p:cNvPr>
          <p:cNvSpPr/>
          <p:nvPr/>
        </p:nvSpPr>
        <p:spPr>
          <a:xfrm>
            <a:off x="5687568" y="2990088"/>
            <a:ext cx="3182112" cy="256032"/>
          </a:xfrm>
          <a:prstGeom prst="rect">
            <a:avLst/>
          </a:prstGeom>
          <a:noFill/>
          <a:ln/>
        </p:spPr>
        <p:txBody>
          <a:bodyPr wrap="square" lIns="0" tIns="0" rIns="0" bIns="0" rtlCol="0" anchor="ctr"/>
          <a:lstStyle/>
          <a:p>
            <a:pPr marL="0" indent="0">
              <a:buNone/>
            </a:pPr>
            <a:r>
              <a:rPr lang="en-US" sz="1200" b="1">
                <a:solidFill>
                  <a:srgbClr val="7B61FF"/>
                </a:solidFill>
                <a:latin typeface="Consolas" pitchFamily="34" charset="0"/>
                <a:ea typeface="Consolas" pitchFamily="34" charset="-122"/>
                <a:cs typeface="Consolas" pitchFamily="34" charset="-120"/>
              </a:rPr>
              <a:t>State 2 (BETWEEN_ALL_AND_SEC)</a:t>
            </a:r>
            <a:endParaRPr lang="en-US" sz="1200"/>
          </a:p>
        </p:txBody>
      </p:sp>
      <p:sp>
        <p:nvSpPr>
          <p:cNvPr id="38" name="Text 36">
            <a:extLst>
              <a:ext uri="{FF2B5EF4-FFF2-40B4-BE49-F238E27FC236}">
                <a16:creationId xmlns:a16="http://schemas.microsoft.com/office/drawing/2014/main" id="{69D8BE1D-C059-2823-DC0B-A02B59600BF3}"/>
              </a:ext>
            </a:extLst>
          </p:cNvPr>
          <p:cNvSpPr/>
          <p:nvPr/>
        </p:nvSpPr>
        <p:spPr>
          <a:xfrm>
            <a:off x="5687568" y="3264408"/>
            <a:ext cx="3182112" cy="502920"/>
          </a:xfrm>
          <a:prstGeom prst="rect">
            <a:avLst/>
          </a:prstGeom>
          <a:noFill/>
          <a:ln/>
        </p:spPr>
        <p:txBody>
          <a:bodyPr wrap="square" lIns="0" tIns="0" rIns="0" bIns="0" rtlCol="0" anchor="t"/>
          <a:lstStyle/>
          <a:p>
            <a:r>
              <a:rPr lang="en-US" sz="1000">
                <a:solidFill>
                  <a:srgbClr val="A8C0E8"/>
                </a:solidFill>
              </a:rPr>
              <a:t>Neither page was accessed this step: the enclave has reached the "quiet window" just before the conditional branch.</a:t>
            </a:r>
          </a:p>
          <a:p>
            <a:endParaRPr lang="en-US" sz="1000">
              <a:solidFill>
                <a:srgbClr val="A8C0E8"/>
              </a:solidFill>
            </a:endParaRPr>
          </a:p>
          <a:p>
            <a:endParaRPr lang="en-US" sz="1000"/>
          </a:p>
        </p:txBody>
      </p:sp>
      <p:sp>
        <p:nvSpPr>
          <p:cNvPr id="39" name="Shape 37">
            <a:extLst>
              <a:ext uri="{FF2B5EF4-FFF2-40B4-BE49-F238E27FC236}">
                <a16:creationId xmlns:a16="http://schemas.microsoft.com/office/drawing/2014/main" id="{3E5F0BBA-B910-466A-9523-51F9A8256ECB}"/>
              </a:ext>
            </a:extLst>
          </p:cNvPr>
          <p:cNvSpPr/>
          <p:nvPr/>
        </p:nvSpPr>
        <p:spPr>
          <a:xfrm>
            <a:off x="5577840" y="3941064"/>
            <a:ext cx="3383280" cy="914400"/>
          </a:xfrm>
          <a:prstGeom prst="rect">
            <a:avLst/>
          </a:prstGeom>
          <a:solidFill>
            <a:srgbClr val="112240"/>
          </a:solidFill>
          <a:ln w="19050">
            <a:solidFill>
              <a:srgbClr val="FF4D6D"/>
            </a:solidFill>
            <a:prstDash val="solid"/>
          </a:ln>
          <a:effectLst>
            <a:outerShdw blurRad="101600" dist="38100" dir="8100000" algn="bl" rotWithShape="0">
              <a:srgbClr val="000000">
                <a:alpha val="18000"/>
              </a:srgbClr>
            </a:outerShdw>
          </a:effectLst>
        </p:spPr>
        <p:txBody>
          <a:bodyPr/>
          <a:lstStyle/>
          <a:p>
            <a:endParaRPr lang="en-US"/>
          </a:p>
        </p:txBody>
      </p:sp>
      <p:sp>
        <p:nvSpPr>
          <p:cNvPr id="40" name="Shape 38">
            <a:extLst>
              <a:ext uri="{FF2B5EF4-FFF2-40B4-BE49-F238E27FC236}">
                <a16:creationId xmlns:a16="http://schemas.microsoft.com/office/drawing/2014/main" id="{AECC9C2C-6C35-FAFC-5ECC-EAE34448BE44}"/>
              </a:ext>
            </a:extLst>
          </p:cNvPr>
          <p:cNvSpPr/>
          <p:nvPr/>
        </p:nvSpPr>
        <p:spPr>
          <a:xfrm>
            <a:off x="5577840" y="3941064"/>
            <a:ext cx="54864" cy="914400"/>
          </a:xfrm>
          <a:prstGeom prst="rect">
            <a:avLst/>
          </a:prstGeom>
          <a:solidFill>
            <a:srgbClr val="FF4D6D"/>
          </a:solidFill>
          <a:ln w="12700">
            <a:solidFill>
              <a:srgbClr val="FF4D6D"/>
            </a:solidFill>
            <a:prstDash val="solid"/>
          </a:ln>
        </p:spPr>
        <p:txBody>
          <a:bodyPr/>
          <a:lstStyle/>
          <a:p>
            <a:endParaRPr lang="en-US"/>
          </a:p>
        </p:txBody>
      </p:sp>
      <p:sp>
        <p:nvSpPr>
          <p:cNvPr id="41" name="Text 39">
            <a:extLst>
              <a:ext uri="{FF2B5EF4-FFF2-40B4-BE49-F238E27FC236}">
                <a16:creationId xmlns:a16="http://schemas.microsoft.com/office/drawing/2014/main" id="{400A37D3-5691-C015-8C44-A91659F4F8D4}"/>
              </a:ext>
            </a:extLst>
          </p:cNvPr>
          <p:cNvSpPr/>
          <p:nvPr/>
        </p:nvSpPr>
        <p:spPr>
          <a:xfrm>
            <a:off x="5687568" y="4014216"/>
            <a:ext cx="3182112" cy="256032"/>
          </a:xfrm>
          <a:prstGeom prst="rect">
            <a:avLst/>
          </a:prstGeom>
          <a:noFill/>
          <a:ln/>
        </p:spPr>
        <p:txBody>
          <a:bodyPr wrap="square" lIns="0" tIns="0" rIns="0" bIns="0" rtlCol="0" anchor="ctr"/>
          <a:lstStyle/>
          <a:p>
            <a:pPr marL="0" indent="0">
              <a:buNone/>
            </a:pPr>
            <a:r>
              <a:rPr lang="en-US" sz="1200" b="1">
                <a:solidFill>
                  <a:srgbClr val="FF4D6D"/>
                </a:solidFill>
                <a:latin typeface="Consolas" pitchFamily="34" charset="0"/>
                <a:ea typeface="Consolas" pitchFamily="34" charset="-122"/>
                <a:cs typeface="Consolas" pitchFamily="34" charset="-120"/>
              </a:rPr>
              <a:t>State 3 (KEY_BIT_EXTRACT)</a:t>
            </a:r>
            <a:endParaRPr lang="en-US" sz="1200"/>
          </a:p>
        </p:txBody>
      </p:sp>
      <p:sp>
        <p:nvSpPr>
          <p:cNvPr id="42" name="Text 40">
            <a:extLst>
              <a:ext uri="{FF2B5EF4-FFF2-40B4-BE49-F238E27FC236}">
                <a16:creationId xmlns:a16="http://schemas.microsoft.com/office/drawing/2014/main" id="{ED14A6D8-8FA1-AC7A-737B-CBC83377F1CC}"/>
              </a:ext>
            </a:extLst>
          </p:cNvPr>
          <p:cNvSpPr/>
          <p:nvPr/>
        </p:nvSpPr>
        <p:spPr>
          <a:xfrm>
            <a:off x="5687568" y="4288536"/>
            <a:ext cx="3182112" cy="502920"/>
          </a:xfrm>
          <a:prstGeom prst="rect">
            <a:avLst/>
          </a:prstGeom>
          <a:noFill/>
          <a:ln/>
        </p:spPr>
        <p:txBody>
          <a:bodyPr wrap="square" lIns="0" tIns="0" rIns="0" bIns="0" rtlCol="0" anchor="t"/>
          <a:lstStyle/>
          <a:p>
            <a:r>
              <a:rPr lang="en-US" sz="1000">
                <a:solidFill>
                  <a:srgbClr val="A8C0E8"/>
                </a:solidFill>
              </a:rPr>
              <a:t>Case 1: q_sec was accessed =&gt; secret bit=1</a:t>
            </a:r>
          </a:p>
          <a:p>
            <a:r>
              <a:rPr lang="en-US" sz="1000">
                <a:solidFill>
                  <a:srgbClr val="A8C0E8"/>
                </a:solidFill>
              </a:rPr>
              <a:t>Case 2: </a:t>
            </a:r>
            <a:r>
              <a:rPr lang="en-US" sz="1000" err="1">
                <a:solidFill>
                  <a:srgbClr val="A8C0E8"/>
                </a:solidFill>
              </a:rPr>
              <a:t>q_all</a:t>
            </a:r>
            <a:r>
              <a:rPr lang="en-US" sz="1000">
                <a:solidFill>
                  <a:srgbClr val="A8C0E8"/>
                </a:solidFill>
              </a:rPr>
              <a:t> was accessed but q_sec was NOT =&gt; secret bit=0</a:t>
            </a:r>
          </a:p>
          <a:p>
            <a:endParaRPr lang="en-US" sz="1000">
              <a:solidFill>
                <a:srgbClr val="A8C0E8"/>
              </a:solidFill>
            </a:endParaRPr>
          </a:p>
        </p:txBody>
      </p:sp>
    </p:spTree>
    <p:extLst>
      <p:ext uri="{BB962C8B-B14F-4D97-AF65-F5344CB8AC3E}">
        <p14:creationId xmlns:p14="http://schemas.microsoft.com/office/powerpoint/2010/main" val="3988579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ABA3EB36-F2E2-5504-0B54-4B8044D46D18}"/>
            </a:ext>
          </a:extLst>
        </p:cNvPr>
        <p:cNvGrpSpPr/>
        <p:nvPr/>
      </p:nvGrpSpPr>
      <p:grpSpPr>
        <a:xfrm>
          <a:off x="0" y="0"/>
          <a:ext cx="0" cy="0"/>
          <a:chOff x="0" y="0"/>
          <a:chExt cx="0" cy="0"/>
        </a:xfrm>
      </p:grpSpPr>
      <p:sp>
        <p:nvSpPr>
          <p:cNvPr id="52" name="Shape 29">
            <a:extLst>
              <a:ext uri="{FF2B5EF4-FFF2-40B4-BE49-F238E27FC236}">
                <a16:creationId xmlns:a16="http://schemas.microsoft.com/office/drawing/2014/main" id="{D429F2CD-ACBA-24FC-46A8-631EBF77B15A}"/>
              </a:ext>
            </a:extLst>
          </p:cNvPr>
          <p:cNvSpPr/>
          <p:nvPr/>
        </p:nvSpPr>
        <p:spPr>
          <a:xfrm>
            <a:off x="361052" y="3461004"/>
            <a:ext cx="8429274" cy="1481327"/>
          </a:xfrm>
          <a:prstGeom prst="rect">
            <a:avLst/>
          </a:prstGeom>
          <a:solidFill>
            <a:srgbClr val="112240"/>
          </a:solidFill>
          <a:ln w="19050">
            <a:solidFill>
              <a:srgbClr val="00D48B"/>
            </a:solidFill>
            <a:prstDash val="solid"/>
          </a:ln>
          <a:effectLst>
            <a:outerShdw blurRad="101600" dist="38100" dir="8100000" algn="bl" rotWithShape="0">
              <a:srgbClr val="000000">
                <a:alpha val="18000"/>
              </a:srgbClr>
            </a:outerShdw>
          </a:effectLst>
        </p:spPr>
        <p:txBody>
          <a:bodyPr/>
          <a:lstStyle/>
          <a:p>
            <a:endParaRPr lang="en-US"/>
          </a:p>
        </p:txBody>
      </p:sp>
      <p:sp>
        <p:nvSpPr>
          <p:cNvPr id="2" name="Text 0">
            <a:extLst>
              <a:ext uri="{FF2B5EF4-FFF2-40B4-BE49-F238E27FC236}">
                <a16:creationId xmlns:a16="http://schemas.microsoft.com/office/drawing/2014/main" id="{1B063655-79CF-1150-C168-CA325DE5C0EC}"/>
              </a:ext>
            </a:extLst>
          </p:cNvPr>
          <p:cNvSpPr/>
          <p:nvPr/>
        </p:nvSpPr>
        <p:spPr>
          <a:xfrm>
            <a:off x="457200" y="201168"/>
            <a:ext cx="8229600" cy="457200"/>
          </a:xfrm>
          <a:prstGeom prst="rect">
            <a:avLst/>
          </a:prstGeom>
          <a:noFill/>
          <a:ln/>
        </p:spPr>
        <p:txBody>
          <a:bodyPr wrap="square" lIns="0" tIns="0" rIns="0" bIns="0" rtlCol="0" anchor="ctr"/>
          <a:lstStyle/>
          <a:p>
            <a:r>
              <a:rPr lang="en-US" sz="2800" b="1">
                <a:solidFill>
                  <a:srgbClr val="FFFFFF"/>
                </a:solidFill>
              </a:rPr>
              <a:t>Results &amp; Evaluation</a:t>
            </a:r>
            <a:endParaRPr lang="en-US" sz="2800"/>
          </a:p>
        </p:txBody>
      </p:sp>
      <p:sp>
        <p:nvSpPr>
          <p:cNvPr id="3" name="Shape 1">
            <a:extLst>
              <a:ext uri="{FF2B5EF4-FFF2-40B4-BE49-F238E27FC236}">
                <a16:creationId xmlns:a16="http://schemas.microsoft.com/office/drawing/2014/main" id="{77B68E57-0CCB-D347-4E99-E9061CDE829D}"/>
              </a:ext>
            </a:extLst>
          </p:cNvPr>
          <p:cNvSpPr/>
          <p:nvPr/>
        </p:nvSpPr>
        <p:spPr>
          <a:xfrm>
            <a:off x="457200" y="676656"/>
            <a:ext cx="8229600" cy="27432"/>
          </a:xfrm>
          <a:prstGeom prst="rect">
            <a:avLst/>
          </a:prstGeom>
          <a:solidFill>
            <a:srgbClr val="00D48B"/>
          </a:solidFill>
          <a:ln w="12700">
            <a:solidFill>
              <a:srgbClr val="00D48B"/>
            </a:solidFill>
            <a:prstDash val="solid"/>
          </a:ln>
        </p:spPr>
        <p:txBody>
          <a:bodyPr/>
          <a:lstStyle/>
          <a:p>
            <a:endParaRPr lang="en-US"/>
          </a:p>
        </p:txBody>
      </p:sp>
      <p:sp>
        <p:nvSpPr>
          <p:cNvPr id="27" name="Shape 25">
            <a:extLst>
              <a:ext uri="{FF2B5EF4-FFF2-40B4-BE49-F238E27FC236}">
                <a16:creationId xmlns:a16="http://schemas.microsoft.com/office/drawing/2014/main" id="{A9E7B84B-096D-E691-C62F-C8F7F22406B8}"/>
              </a:ext>
            </a:extLst>
          </p:cNvPr>
          <p:cNvSpPr/>
          <p:nvPr/>
        </p:nvSpPr>
        <p:spPr>
          <a:xfrm>
            <a:off x="473817" y="813816"/>
            <a:ext cx="3923607" cy="411480"/>
          </a:xfrm>
          <a:prstGeom prst="rect">
            <a:avLst/>
          </a:prstGeom>
          <a:solidFill>
            <a:srgbClr val="112240"/>
          </a:solidFill>
          <a:ln w="19050">
            <a:solidFill>
              <a:srgbClr val="00C8FF"/>
            </a:solidFill>
            <a:prstDash val="solid"/>
          </a:ln>
          <a:effectLst>
            <a:outerShdw blurRad="101600" dist="38100" dir="8100000" algn="bl" rotWithShape="0">
              <a:srgbClr val="000000">
                <a:alpha val="18000"/>
              </a:srgbClr>
            </a:outerShdw>
          </a:effectLst>
        </p:spPr>
        <p:txBody>
          <a:bodyPr/>
          <a:lstStyle/>
          <a:p>
            <a:endParaRPr lang="en-US"/>
          </a:p>
        </p:txBody>
      </p:sp>
      <p:sp>
        <p:nvSpPr>
          <p:cNvPr id="28" name="Shape 26">
            <a:extLst>
              <a:ext uri="{FF2B5EF4-FFF2-40B4-BE49-F238E27FC236}">
                <a16:creationId xmlns:a16="http://schemas.microsoft.com/office/drawing/2014/main" id="{820733A2-270F-3866-09E1-95FF45AEBD7F}"/>
              </a:ext>
            </a:extLst>
          </p:cNvPr>
          <p:cNvSpPr/>
          <p:nvPr/>
        </p:nvSpPr>
        <p:spPr>
          <a:xfrm>
            <a:off x="486289" y="813814"/>
            <a:ext cx="45719" cy="411481"/>
          </a:xfrm>
          <a:prstGeom prst="rect">
            <a:avLst/>
          </a:prstGeom>
          <a:solidFill>
            <a:srgbClr val="00C8FF"/>
          </a:solidFill>
          <a:ln w="12700">
            <a:solidFill>
              <a:srgbClr val="00C8FF"/>
            </a:solidFill>
            <a:prstDash val="solid"/>
          </a:ln>
        </p:spPr>
        <p:txBody>
          <a:bodyPr/>
          <a:lstStyle/>
          <a:p>
            <a:endParaRPr lang="en-US"/>
          </a:p>
        </p:txBody>
      </p:sp>
      <p:sp>
        <p:nvSpPr>
          <p:cNvPr id="29" name="Text 27">
            <a:extLst>
              <a:ext uri="{FF2B5EF4-FFF2-40B4-BE49-F238E27FC236}">
                <a16:creationId xmlns:a16="http://schemas.microsoft.com/office/drawing/2014/main" id="{904D8997-3D02-0174-410F-B94CD82E5FF4}"/>
              </a:ext>
            </a:extLst>
          </p:cNvPr>
          <p:cNvSpPr/>
          <p:nvPr/>
        </p:nvSpPr>
        <p:spPr>
          <a:xfrm>
            <a:off x="866186" y="882396"/>
            <a:ext cx="3182112" cy="256032"/>
          </a:xfrm>
          <a:prstGeom prst="rect">
            <a:avLst/>
          </a:prstGeom>
          <a:noFill/>
          <a:ln/>
        </p:spPr>
        <p:txBody>
          <a:bodyPr wrap="square" lIns="0" tIns="0" rIns="0" bIns="0" rtlCol="0" anchor="ctr"/>
          <a:lstStyle/>
          <a:p>
            <a:pPr marL="0" indent="0">
              <a:buNone/>
            </a:pPr>
            <a:r>
              <a:rPr lang="en-US" sz="1400" b="1">
                <a:solidFill>
                  <a:srgbClr val="00C8FF"/>
                </a:solidFill>
                <a:latin typeface="Consolas" pitchFamily="34" charset="0"/>
                <a:cs typeface="Consolas" pitchFamily="34" charset="-120"/>
              </a:rPr>
              <a:t>Using 1 second sleep during runs</a:t>
            </a:r>
            <a:endParaRPr lang="en-US" sz="1400"/>
          </a:p>
        </p:txBody>
      </p:sp>
      <p:sp>
        <p:nvSpPr>
          <p:cNvPr id="35" name="Shape 33">
            <a:extLst>
              <a:ext uri="{FF2B5EF4-FFF2-40B4-BE49-F238E27FC236}">
                <a16:creationId xmlns:a16="http://schemas.microsoft.com/office/drawing/2014/main" id="{6AE9A473-94D3-AC67-A253-3F5893CC3315}"/>
              </a:ext>
            </a:extLst>
          </p:cNvPr>
          <p:cNvSpPr/>
          <p:nvPr/>
        </p:nvSpPr>
        <p:spPr>
          <a:xfrm>
            <a:off x="4621877" y="804672"/>
            <a:ext cx="4152205" cy="420624"/>
          </a:xfrm>
          <a:prstGeom prst="rect">
            <a:avLst/>
          </a:prstGeom>
          <a:solidFill>
            <a:srgbClr val="112240"/>
          </a:solidFill>
          <a:ln w="19050">
            <a:solidFill>
              <a:srgbClr val="7B61FF"/>
            </a:solidFill>
            <a:prstDash val="solid"/>
          </a:ln>
          <a:effectLst>
            <a:outerShdw blurRad="101600" dist="38100" dir="8100000" algn="bl" rotWithShape="0">
              <a:srgbClr val="000000">
                <a:alpha val="18000"/>
              </a:srgbClr>
            </a:outerShdw>
          </a:effectLst>
        </p:spPr>
        <p:txBody>
          <a:bodyPr/>
          <a:lstStyle/>
          <a:p>
            <a:endParaRPr lang="en-US"/>
          </a:p>
        </p:txBody>
      </p:sp>
      <p:sp>
        <p:nvSpPr>
          <p:cNvPr id="36" name="Shape 34">
            <a:extLst>
              <a:ext uri="{FF2B5EF4-FFF2-40B4-BE49-F238E27FC236}">
                <a16:creationId xmlns:a16="http://schemas.microsoft.com/office/drawing/2014/main" id="{BAEA8D79-1FB8-26B0-5240-BC99BC8176CD}"/>
              </a:ext>
            </a:extLst>
          </p:cNvPr>
          <p:cNvSpPr/>
          <p:nvPr/>
        </p:nvSpPr>
        <p:spPr>
          <a:xfrm>
            <a:off x="4621877" y="809244"/>
            <a:ext cx="66500" cy="416052"/>
          </a:xfrm>
          <a:prstGeom prst="rect">
            <a:avLst/>
          </a:prstGeom>
          <a:solidFill>
            <a:srgbClr val="7B61FF"/>
          </a:solidFill>
          <a:ln w="12700">
            <a:solidFill>
              <a:srgbClr val="7B61FF"/>
            </a:solidFill>
            <a:prstDash val="solid"/>
          </a:ln>
        </p:spPr>
        <p:txBody>
          <a:bodyPr/>
          <a:lstStyle/>
          <a:p>
            <a:endParaRPr lang="en-US"/>
          </a:p>
        </p:txBody>
      </p:sp>
      <p:sp>
        <p:nvSpPr>
          <p:cNvPr id="37" name="Text 35">
            <a:extLst>
              <a:ext uri="{FF2B5EF4-FFF2-40B4-BE49-F238E27FC236}">
                <a16:creationId xmlns:a16="http://schemas.microsoft.com/office/drawing/2014/main" id="{C243794D-F3F6-E842-DF07-0B781CFB6C9D}"/>
              </a:ext>
            </a:extLst>
          </p:cNvPr>
          <p:cNvSpPr/>
          <p:nvPr/>
        </p:nvSpPr>
        <p:spPr>
          <a:xfrm>
            <a:off x="4904507" y="869511"/>
            <a:ext cx="3325091" cy="256032"/>
          </a:xfrm>
          <a:prstGeom prst="rect">
            <a:avLst/>
          </a:prstGeom>
          <a:noFill/>
          <a:ln/>
        </p:spPr>
        <p:txBody>
          <a:bodyPr wrap="square" lIns="0" tIns="0" rIns="0" bIns="0" rtlCol="0" anchor="ctr"/>
          <a:lstStyle/>
          <a:p>
            <a:pPr marL="0" indent="0">
              <a:buNone/>
            </a:pPr>
            <a:r>
              <a:rPr lang="en-US" sz="1400" b="1">
                <a:solidFill>
                  <a:srgbClr val="7B61FF"/>
                </a:solidFill>
                <a:latin typeface="Consolas" pitchFamily="34" charset="0"/>
                <a:cs typeface="Consolas" pitchFamily="34" charset="-120"/>
              </a:rPr>
              <a:t>Using 2 second sleep between runs</a:t>
            </a:r>
            <a:endParaRPr lang="en-US" sz="1400"/>
          </a:p>
        </p:txBody>
      </p:sp>
      <p:pic>
        <p:nvPicPr>
          <p:cNvPr id="4" name="Picture 3" descr="A black background with white text&#10;&#10;AI-generated content may be incorrect.">
            <a:extLst>
              <a:ext uri="{FF2B5EF4-FFF2-40B4-BE49-F238E27FC236}">
                <a16:creationId xmlns:a16="http://schemas.microsoft.com/office/drawing/2014/main" id="{EF9DA76E-393E-3E29-E529-68BFEAA7796F}"/>
              </a:ext>
            </a:extLst>
          </p:cNvPr>
          <p:cNvPicPr>
            <a:picLocks noChangeAspect="1"/>
          </p:cNvPicPr>
          <p:nvPr/>
        </p:nvPicPr>
        <p:blipFill>
          <a:blip r:embed="rId3"/>
          <a:stretch>
            <a:fillRect/>
          </a:stretch>
        </p:blipFill>
        <p:spPr>
          <a:xfrm>
            <a:off x="486289" y="2160387"/>
            <a:ext cx="3911463" cy="436080"/>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4896BA0B-4A7C-7DE1-454E-2A7B57627EB6}"/>
              </a:ext>
            </a:extLst>
          </p:cNvPr>
          <p:cNvPicPr>
            <a:picLocks noChangeAspect="1"/>
          </p:cNvPicPr>
          <p:nvPr/>
        </p:nvPicPr>
        <p:blipFill>
          <a:blip r:embed="rId4"/>
          <a:stretch>
            <a:fillRect/>
          </a:stretch>
        </p:blipFill>
        <p:spPr>
          <a:xfrm>
            <a:off x="505447" y="1607341"/>
            <a:ext cx="3908977" cy="431110"/>
          </a:xfrm>
          <a:prstGeom prst="rect">
            <a:avLst/>
          </a:prstGeom>
        </p:spPr>
      </p:pic>
      <p:sp>
        <p:nvSpPr>
          <p:cNvPr id="15" name="Text 17">
            <a:extLst>
              <a:ext uri="{FF2B5EF4-FFF2-40B4-BE49-F238E27FC236}">
                <a16:creationId xmlns:a16="http://schemas.microsoft.com/office/drawing/2014/main" id="{B99BF9B3-34D2-1F18-03DF-4D4834AF458C}"/>
              </a:ext>
            </a:extLst>
          </p:cNvPr>
          <p:cNvSpPr/>
          <p:nvPr/>
        </p:nvSpPr>
        <p:spPr>
          <a:xfrm>
            <a:off x="457200" y="3495507"/>
            <a:ext cx="8229600" cy="320040"/>
          </a:xfrm>
          <a:prstGeom prst="rect">
            <a:avLst/>
          </a:prstGeom>
          <a:noFill/>
          <a:ln/>
        </p:spPr>
        <p:txBody>
          <a:bodyPr wrap="square" lIns="0" tIns="0" rIns="0" bIns="0" rtlCol="0" anchor="ctr"/>
          <a:lstStyle/>
          <a:p>
            <a:pPr marL="0" indent="0">
              <a:buNone/>
            </a:pPr>
            <a:r>
              <a:rPr lang="en-US" sz="1500" b="1">
                <a:solidFill>
                  <a:schemeClr val="bg1"/>
                </a:solidFill>
              </a:rPr>
              <a:t>Key Engineering Challenges</a:t>
            </a:r>
            <a:endParaRPr lang="en-US" sz="1500">
              <a:solidFill>
                <a:schemeClr val="bg1"/>
              </a:solidFill>
            </a:endParaRPr>
          </a:p>
        </p:txBody>
      </p:sp>
      <p:sp>
        <p:nvSpPr>
          <p:cNvPr id="43" name="Text 18">
            <a:extLst>
              <a:ext uri="{FF2B5EF4-FFF2-40B4-BE49-F238E27FC236}">
                <a16:creationId xmlns:a16="http://schemas.microsoft.com/office/drawing/2014/main" id="{B31E098F-C72D-4E17-0BCF-41EAA65B8C89}"/>
              </a:ext>
            </a:extLst>
          </p:cNvPr>
          <p:cNvSpPr/>
          <p:nvPr/>
        </p:nvSpPr>
        <p:spPr>
          <a:xfrm>
            <a:off x="457200" y="3940237"/>
            <a:ext cx="403198" cy="402336"/>
          </a:xfrm>
          <a:prstGeom prst="rect">
            <a:avLst/>
          </a:prstGeom>
          <a:noFill/>
          <a:ln/>
        </p:spPr>
        <p:txBody>
          <a:bodyPr wrap="square" lIns="0" tIns="0" rIns="0" bIns="0" rtlCol="0" anchor="ctr"/>
          <a:lstStyle/>
          <a:p>
            <a:pPr marL="0" indent="0" algn="ctr">
              <a:buNone/>
            </a:pPr>
            <a:r>
              <a:rPr lang="en-US" sz="1800">
                <a:solidFill>
                  <a:srgbClr val="000000"/>
                </a:solidFill>
              </a:rPr>
              <a:t>⏱</a:t>
            </a:r>
            <a:endParaRPr lang="en-US" sz="1800"/>
          </a:p>
        </p:txBody>
      </p:sp>
      <p:sp>
        <p:nvSpPr>
          <p:cNvPr id="44" name="Text 19">
            <a:extLst>
              <a:ext uri="{FF2B5EF4-FFF2-40B4-BE49-F238E27FC236}">
                <a16:creationId xmlns:a16="http://schemas.microsoft.com/office/drawing/2014/main" id="{C60884D9-43CB-902E-9DC9-E0ED2EF42900}"/>
              </a:ext>
            </a:extLst>
          </p:cNvPr>
          <p:cNvSpPr/>
          <p:nvPr/>
        </p:nvSpPr>
        <p:spPr>
          <a:xfrm>
            <a:off x="960120" y="3940237"/>
            <a:ext cx="7955280" cy="402336"/>
          </a:xfrm>
          <a:prstGeom prst="rect">
            <a:avLst/>
          </a:prstGeom>
          <a:noFill/>
          <a:ln/>
        </p:spPr>
        <p:txBody>
          <a:bodyPr wrap="square" lIns="0" tIns="0" rIns="0" bIns="0" rtlCol="0" anchor="ctr"/>
          <a:lstStyle/>
          <a:p>
            <a:pPr marL="0" indent="0">
              <a:buNone/>
            </a:pPr>
            <a:r>
              <a:rPr lang="en-US" sz="1050">
                <a:solidFill>
                  <a:schemeClr val="bg1"/>
                </a:solidFill>
              </a:rPr>
              <a:t>APIC interrupts are asynchronous — running multiple attacks back-to-back causes IRQ state glitches. Solved by 1-second sleep between runs in </a:t>
            </a:r>
            <a:r>
              <a:rPr lang="en-US" sz="1050" err="1">
                <a:solidFill>
                  <a:schemeClr val="bg1"/>
                </a:solidFill>
              </a:rPr>
              <a:t>check_accuracy.sh</a:t>
            </a:r>
            <a:r>
              <a:rPr lang="en-US" sz="1050">
                <a:solidFill>
                  <a:schemeClr val="bg1"/>
                </a:solidFill>
              </a:rPr>
              <a:t>.</a:t>
            </a:r>
          </a:p>
        </p:txBody>
      </p:sp>
      <p:sp>
        <p:nvSpPr>
          <p:cNvPr id="47" name="Text 22">
            <a:extLst>
              <a:ext uri="{FF2B5EF4-FFF2-40B4-BE49-F238E27FC236}">
                <a16:creationId xmlns:a16="http://schemas.microsoft.com/office/drawing/2014/main" id="{F3106577-E7F4-B5C8-9CCF-C6B24B041A64}"/>
              </a:ext>
            </a:extLst>
          </p:cNvPr>
          <p:cNvSpPr/>
          <p:nvPr/>
        </p:nvSpPr>
        <p:spPr>
          <a:xfrm>
            <a:off x="457200" y="4480560"/>
            <a:ext cx="411480" cy="402336"/>
          </a:xfrm>
          <a:prstGeom prst="rect">
            <a:avLst/>
          </a:prstGeom>
          <a:noFill/>
          <a:ln/>
        </p:spPr>
        <p:txBody>
          <a:bodyPr wrap="square" lIns="0" tIns="0" rIns="0" bIns="0" rtlCol="0" anchor="ctr"/>
          <a:lstStyle/>
          <a:p>
            <a:pPr marL="0" indent="0" algn="ctr">
              <a:buNone/>
            </a:pPr>
            <a:r>
              <a:rPr lang="en-US" sz="1800">
                <a:solidFill>
                  <a:srgbClr val="000000"/>
                </a:solidFill>
              </a:rPr>
              <a:t>🧱</a:t>
            </a:r>
            <a:endParaRPr lang="en-US" sz="1800"/>
          </a:p>
        </p:txBody>
      </p:sp>
      <p:sp>
        <p:nvSpPr>
          <p:cNvPr id="48" name="Text 23">
            <a:extLst>
              <a:ext uri="{FF2B5EF4-FFF2-40B4-BE49-F238E27FC236}">
                <a16:creationId xmlns:a16="http://schemas.microsoft.com/office/drawing/2014/main" id="{9B477D84-B07B-B256-1551-ECBA7ED65AA4}"/>
              </a:ext>
            </a:extLst>
          </p:cNvPr>
          <p:cNvSpPr/>
          <p:nvPr/>
        </p:nvSpPr>
        <p:spPr>
          <a:xfrm>
            <a:off x="960120" y="4480560"/>
            <a:ext cx="7955280" cy="402336"/>
          </a:xfrm>
          <a:prstGeom prst="rect">
            <a:avLst/>
          </a:prstGeom>
          <a:noFill/>
          <a:ln/>
        </p:spPr>
        <p:txBody>
          <a:bodyPr wrap="square" lIns="0" tIns="0" rIns="0" bIns="0" rtlCol="0" anchor="ctr"/>
          <a:lstStyle/>
          <a:p>
            <a:pPr marL="0" indent="0">
              <a:buNone/>
            </a:pPr>
            <a:r>
              <a:rPr lang="en-US" sz="1050">
                <a:solidFill>
                  <a:schemeClr val="bg1"/>
                </a:solidFill>
              </a:rPr>
              <a:t>NOP sleds (5000×20 = 100,000 NOPs) between function calls widen the landing window so the single APIC interrupt reliably lands in the right region.</a:t>
            </a:r>
          </a:p>
        </p:txBody>
      </p:sp>
      <p:pic>
        <p:nvPicPr>
          <p:cNvPr id="7" name="Picture 6" descr="A black background with white text&#10;&#10;AI-generated content may be incorrect.">
            <a:extLst>
              <a:ext uri="{FF2B5EF4-FFF2-40B4-BE49-F238E27FC236}">
                <a16:creationId xmlns:a16="http://schemas.microsoft.com/office/drawing/2014/main" id="{6D1887A3-E81F-C40F-DCDD-C6D24E0D2529}"/>
              </a:ext>
            </a:extLst>
          </p:cNvPr>
          <p:cNvPicPr>
            <a:picLocks noChangeAspect="1"/>
          </p:cNvPicPr>
          <p:nvPr/>
        </p:nvPicPr>
        <p:blipFill>
          <a:blip r:embed="rId5"/>
          <a:stretch>
            <a:fillRect/>
          </a:stretch>
        </p:blipFill>
        <p:spPr>
          <a:xfrm>
            <a:off x="4821513" y="1604233"/>
            <a:ext cx="3874192" cy="431940"/>
          </a:xfrm>
          <a:prstGeom prst="rect">
            <a:avLst/>
          </a:prstGeom>
        </p:spPr>
      </p:pic>
      <p:pic>
        <p:nvPicPr>
          <p:cNvPr id="8" name="Picture 7" descr="A black background with white text&#10;&#10;AI-generated content may be incorrect.">
            <a:extLst>
              <a:ext uri="{FF2B5EF4-FFF2-40B4-BE49-F238E27FC236}">
                <a16:creationId xmlns:a16="http://schemas.microsoft.com/office/drawing/2014/main" id="{BEFC2987-5E80-2C24-87B2-5C7A69C5201C}"/>
              </a:ext>
            </a:extLst>
          </p:cNvPr>
          <p:cNvPicPr>
            <a:picLocks noChangeAspect="1"/>
          </p:cNvPicPr>
          <p:nvPr/>
        </p:nvPicPr>
        <p:blipFill>
          <a:blip r:embed="rId6"/>
          <a:stretch>
            <a:fillRect/>
          </a:stretch>
        </p:blipFill>
        <p:spPr>
          <a:xfrm>
            <a:off x="4830832" y="2162457"/>
            <a:ext cx="3855554" cy="431939"/>
          </a:xfrm>
          <a:prstGeom prst="rect">
            <a:avLst/>
          </a:prstGeom>
        </p:spPr>
      </p:pic>
      <p:pic>
        <p:nvPicPr>
          <p:cNvPr id="10" name="Picture 9" descr="A black background with white text&#10;&#10;AI-generated content may be incorrect.">
            <a:extLst>
              <a:ext uri="{FF2B5EF4-FFF2-40B4-BE49-F238E27FC236}">
                <a16:creationId xmlns:a16="http://schemas.microsoft.com/office/drawing/2014/main" id="{B458DD65-BB6A-1828-4CBA-EBD8D19A3DA9}"/>
              </a:ext>
            </a:extLst>
          </p:cNvPr>
          <p:cNvPicPr>
            <a:picLocks noChangeAspect="1"/>
          </p:cNvPicPr>
          <p:nvPr/>
        </p:nvPicPr>
        <p:blipFill>
          <a:blip r:embed="rId7"/>
          <a:stretch>
            <a:fillRect/>
          </a:stretch>
        </p:blipFill>
        <p:spPr>
          <a:xfrm>
            <a:off x="524909" y="2728806"/>
            <a:ext cx="3861769" cy="424485"/>
          </a:xfrm>
          <a:prstGeom prst="rect">
            <a:avLst/>
          </a:prstGeom>
        </p:spPr>
      </p:pic>
      <p:sp>
        <p:nvSpPr>
          <p:cNvPr id="12" name="Rectangle 11">
            <a:extLst>
              <a:ext uri="{FF2B5EF4-FFF2-40B4-BE49-F238E27FC236}">
                <a16:creationId xmlns:a16="http://schemas.microsoft.com/office/drawing/2014/main" id="{E8EF7387-EAB0-6C0B-C483-A2B48948C9CC}"/>
              </a:ext>
            </a:extLst>
          </p:cNvPr>
          <p:cNvSpPr/>
          <p:nvPr/>
        </p:nvSpPr>
        <p:spPr>
          <a:xfrm>
            <a:off x="361052" y="1491511"/>
            <a:ext cx="4155448" cy="1760783"/>
          </a:xfrm>
          <a:prstGeom prst="rect">
            <a:avLst/>
          </a:prstGeom>
          <a:noFill/>
          <a:ln w="28575">
            <a:solidFill>
              <a:srgbClr val="00C8F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3E520BE-DD7A-8A9A-1380-982AD65D5FAF}"/>
              </a:ext>
            </a:extLst>
          </p:cNvPr>
          <p:cNvSpPr/>
          <p:nvPr/>
        </p:nvSpPr>
        <p:spPr>
          <a:xfrm>
            <a:off x="4634878" y="1491511"/>
            <a:ext cx="4155448" cy="1760783"/>
          </a:xfrm>
          <a:prstGeom prst="rect">
            <a:avLst/>
          </a:prstGeom>
          <a:noFill/>
          <a:ln w="28575">
            <a:solidFill>
              <a:srgbClr val="7B61F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14" name="Picture 13" descr="A black background with white numbers&#10;&#10;AI-generated content may be incorrect.">
            <a:extLst>
              <a:ext uri="{FF2B5EF4-FFF2-40B4-BE49-F238E27FC236}">
                <a16:creationId xmlns:a16="http://schemas.microsoft.com/office/drawing/2014/main" id="{642574B6-F969-B3D9-0EEB-4DEDF98229CD}"/>
              </a:ext>
            </a:extLst>
          </p:cNvPr>
          <p:cNvPicPr>
            <a:picLocks noChangeAspect="1"/>
          </p:cNvPicPr>
          <p:nvPr/>
        </p:nvPicPr>
        <p:blipFill>
          <a:blip r:embed="rId8"/>
          <a:stretch>
            <a:fillRect/>
          </a:stretch>
        </p:blipFill>
        <p:spPr>
          <a:xfrm>
            <a:off x="4829174" y="2725806"/>
            <a:ext cx="3867152" cy="429040"/>
          </a:xfrm>
          <a:prstGeom prst="rect">
            <a:avLst/>
          </a:prstGeom>
        </p:spPr>
      </p:pic>
    </p:spTree>
    <p:extLst>
      <p:ext uri="{BB962C8B-B14F-4D97-AF65-F5344CB8AC3E}">
        <p14:creationId xmlns:p14="http://schemas.microsoft.com/office/powerpoint/2010/main" val="1387613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3474720"/>
            <a:ext cx="2743200" cy="2743200"/>
          </a:xfrm>
          <a:prstGeom prst="ellipse">
            <a:avLst/>
          </a:prstGeom>
          <a:solidFill>
            <a:srgbClr val="7B61FF">
              <a:alpha val="10000"/>
            </a:srgbClr>
          </a:solidFill>
          <a:ln w="12700">
            <a:solidFill>
              <a:srgbClr val="7B61FF">
                <a:alpha val="20000"/>
              </a:srgbClr>
            </a:solidFill>
            <a:prstDash val="solid"/>
          </a:ln>
        </p:spPr>
        <p:txBody>
          <a:bodyPr/>
          <a:lstStyle/>
          <a:p>
            <a:endParaRPr lang="en-US"/>
          </a:p>
        </p:txBody>
      </p:sp>
      <p:sp>
        <p:nvSpPr>
          <p:cNvPr id="3" name="Shape 1"/>
          <p:cNvSpPr/>
          <p:nvPr/>
        </p:nvSpPr>
        <p:spPr>
          <a:xfrm>
            <a:off x="7772400" y="-457200"/>
            <a:ext cx="2286000" cy="2286000"/>
          </a:xfrm>
          <a:prstGeom prst="ellipse">
            <a:avLst/>
          </a:prstGeom>
          <a:solidFill>
            <a:srgbClr val="00D48B">
              <a:alpha val="12000"/>
            </a:srgbClr>
          </a:solidFill>
          <a:ln w="12700">
            <a:solidFill>
              <a:srgbClr val="00D48B">
                <a:alpha val="20000"/>
              </a:srgbClr>
            </a:solidFill>
            <a:prstDash val="solid"/>
          </a:ln>
        </p:spPr>
        <p:txBody>
          <a:bodyPr/>
          <a:lstStyle/>
          <a:p>
            <a:endParaRPr lang="en-US"/>
          </a:p>
        </p:txBody>
      </p:sp>
      <p:sp>
        <p:nvSpPr>
          <p:cNvPr id="4" name="Text 2"/>
          <p:cNvSpPr/>
          <p:nvPr/>
        </p:nvSpPr>
        <p:spPr>
          <a:xfrm>
            <a:off x="457200" y="347472"/>
            <a:ext cx="8229600" cy="3892834"/>
          </a:xfrm>
          <a:prstGeom prst="rect">
            <a:avLst/>
          </a:prstGeom>
          <a:noFill/>
          <a:ln/>
        </p:spPr>
        <p:txBody>
          <a:bodyPr wrap="square" lIns="0" tIns="0" rIns="0" bIns="0" rtlCol="0" anchor="ctr"/>
          <a:lstStyle/>
          <a:p>
            <a:pPr marL="0" indent="0" algn="ctr">
              <a:buNone/>
            </a:pPr>
            <a:r>
              <a:rPr lang="en-US" sz="6600" b="1" kern="0" spc="400">
                <a:solidFill>
                  <a:srgbClr val="00C8FF"/>
                </a:solidFill>
              </a:rPr>
              <a:t>Thank You !</a:t>
            </a:r>
            <a:endParaRPr lang="en-US" sz="6600"/>
          </a:p>
        </p:txBody>
      </p:sp>
      <p:sp>
        <p:nvSpPr>
          <p:cNvPr id="20" name="Text 18"/>
          <p:cNvSpPr/>
          <p:nvPr/>
        </p:nvSpPr>
        <p:spPr>
          <a:xfrm>
            <a:off x="609600" y="4039138"/>
            <a:ext cx="8229600" cy="452180"/>
          </a:xfrm>
          <a:prstGeom prst="rect">
            <a:avLst/>
          </a:prstGeom>
          <a:noFill/>
          <a:ln/>
        </p:spPr>
        <p:txBody>
          <a:bodyPr wrap="square" lIns="0" tIns="0" rIns="0" bIns="0" rtlCol="0" anchor="ctr"/>
          <a:lstStyle/>
          <a:p>
            <a:pPr marL="0" indent="0" algn="ctr">
              <a:buNone/>
            </a:pPr>
            <a:r>
              <a:rPr lang="en-US">
                <a:solidFill>
                  <a:srgbClr val="4A6080"/>
                </a:solidFill>
              </a:rPr>
              <a:t>Built with SGX-Step  ·  Van Bulck et al., SysTEX'17  ·  </a:t>
            </a:r>
            <a:r>
              <a:rPr lang="en-US" err="1">
                <a:solidFill>
                  <a:srgbClr val="4A6080"/>
                </a:solidFill>
              </a:rPr>
              <a:t>BunnyHop</a:t>
            </a:r>
            <a:r>
              <a:rPr lang="en-US">
                <a:solidFill>
                  <a:srgbClr val="4A6080"/>
                </a:solidFill>
              </a:rPr>
              <a:t>, USENIX Sec'23</a:t>
            </a:r>
            <a:endParaRPr lang="en-US"/>
          </a:p>
        </p:txBody>
      </p:sp>
      <p:sp>
        <p:nvSpPr>
          <p:cNvPr id="21" name="TextBox 20">
            <a:extLst>
              <a:ext uri="{FF2B5EF4-FFF2-40B4-BE49-F238E27FC236}">
                <a16:creationId xmlns:a16="http://schemas.microsoft.com/office/drawing/2014/main" id="{0E774F75-DE0C-CCEB-89C1-2C690F7EA238}"/>
              </a:ext>
            </a:extLst>
          </p:cNvPr>
          <p:cNvSpPr txBox="1"/>
          <p:nvPr/>
        </p:nvSpPr>
        <p:spPr>
          <a:xfrm>
            <a:off x="3963724" y="3669806"/>
            <a:ext cx="1216551" cy="369332"/>
          </a:xfrm>
          <a:prstGeom prst="rect">
            <a:avLst/>
          </a:prstGeom>
          <a:noFill/>
        </p:spPr>
        <p:txBody>
          <a:bodyPr wrap="none" rtlCol="0">
            <a:spAutoFit/>
          </a:bodyPr>
          <a:lstStyle/>
          <a:p>
            <a:r>
              <a:rPr lang="en-US">
                <a:solidFill>
                  <a:schemeClr val="bg1"/>
                </a:solidFill>
              </a:rPr>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1321</Words>
  <Application>Microsoft Macintosh PowerPoint</Application>
  <PresentationFormat>On-screen Show (16:9)</PresentationFormat>
  <Paragraphs>167</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SGX Enclave Key Recovery</dc:title>
  <dc:subject>PptxGenJS Presentation</dc:subject>
  <dc:creator>SGX-Step Project</dc:creator>
  <cp:lastModifiedBy>Satwik Raj Wadhwa</cp:lastModifiedBy>
  <cp:revision>2</cp:revision>
  <dcterms:created xsi:type="dcterms:W3CDTF">2026-04-21T12:28:51Z</dcterms:created>
  <dcterms:modified xsi:type="dcterms:W3CDTF">2026-04-25T22:48:17Z</dcterms:modified>
</cp:coreProperties>
</file>